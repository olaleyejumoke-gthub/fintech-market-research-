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7DCCE-92D1-4F6B-A906-987556A2C7B9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B8CB7A-EDBB-4763-98FA-FDAEBBE0F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8675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8CB7A-EDBB-4763-98FA-FDAEBBE0F2C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023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2CCF3-F949-17AE-A066-FE44386008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1CA0E1-CC53-0335-D41A-E93F0DBAF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8E837-55F3-5F2B-5DF7-C17751DC6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2A986-4DFE-458C-AD4D-F20CD8274ED0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99C10-FEE9-F33A-6B15-80C3D56B7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DC36E-05B1-1656-DBE4-1E9A2ACCF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BFE-6DB7-4301-868D-53B7D568D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6582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C4A13-2D5F-A17A-60CB-7A194EAC5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CE6D9-B768-66BB-0C29-FE2933BC7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6011A-21FB-4A58-8AF9-E6B653AB2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2A986-4DFE-458C-AD4D-F20CD8274ED0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E7CE0-473E-1F8D-D6BD-8AC3CB4B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25170-8FBC-D9F2-2131-9EE2D4959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BFE-6DB7-4301-868D-53B7D568D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1944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ED611-5AEE-022A-9FD2-CEBD0F351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F05D4-515A-D8B3-E32E-FA87BB835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D1B3A-F677-2F4C-B72A-77A2279B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2A986-4DFE-458C-AD4D-F20CD8274ED0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C3F68-BF02-0B74-3C24-385FC2876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CFC56-DEF1-5908-4814-93D3E5A38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BFE-6DB7-4301-868D-53B7D568D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87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563DB-E6E6-4314-E13A-74AA7ED8A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C2A4D-4BDD-B823-AA12-75D64A60FB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EF42A-50AA-543B-7EAC-90ADA1654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00196-D4D5-B9FA-0AC5-DAA6BCDBD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2A986-4DFE-458C-AD4D-F20CD8274ED0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A4475E-911C-A16D-7333-882AE3BB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899BE-564D-5F06-3063-99AC1AFC9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BFE-6DB7-4301-868D-53B7D568D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9758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18FAC-6EFC-6479-60DA-3A7351C34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DB084-8139-47C5-422D-FF821A67A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3EDF63-443B-1DD8-78AD-13AF9D3FA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296AA5-9F1B-8726-EBCB-23B95256E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F4BBA2-A7FC-7413-643F-752AF2B179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8699F-2CFA-E8AE-D588-ED75251FB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2A986-4DFE-458C-AD4D-F20CD8274ED0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EA8F92-FF27-AD2D-8DB4-977544FEB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DFDC67-8E2A-FB57-2D8F-998196455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BFE-6DB7-4301-868D-53B7D568D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1213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C4932-8292-6CBF-F84C-B725C5616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1B2030-5DA0-BB57-9284-3EDA828E8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2A986-4DFE-458C-AD4D-F20CD8274ED0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5EF104-0807-1C33-20A6-1DC2C0B00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DD5A8-0695-B9E4-1E55-8ED8B3C69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BFE-6DB7-4301-868D-53B7D568D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0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0D3DD2-E629-90C8-4375-43FF9DD36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2A986-4DFE-458C-AD4D-F20CD8274ED0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3116E9-A9E8-AA51-6BA5-4DD91B96B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24A69-B291-AECA-9124-7A6DB2BD1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BFE-6DB7-4301-868D-53B7D568D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18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E594E-1782-746C-C5B5-F69A17379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189A0-4F6E-4A00-4665-9EDE712F1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3CC0C-378A-F7AB-4373-1AE5BF9DD8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5E0CE-0DF5-2691-C077-2118252F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2A986-4DFE-458C-AD4D-F20CD8274ED0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BAD38-6417-A2C0-7363-C052254B2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0BB1B-E063-0C96-91D0-4921706F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BFE-6DB7-4301-868D-53B7D568D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782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D3BA9-395B-4CDA-C067-1A95788C2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42091-59E3-257A-E3AD-EAB03BBF4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C675F-D939-AA97-2CE4-0D3016B15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FED5C-BCB9-56D0-29A4-945256AD9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2A986-4DFE-458C-AD4D-F20CD8274ED0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2C94C-E73B-0E95-1BE1-5FD69CAA8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DC6A9-9CF1-A9E2-B4DA-AEB8C9C67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BFE-6DB7-4301-868D-53B7D568D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034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E2DF7-972C-0D1B-587D-A0034BDDB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9D52C-A788-1E26-4B59-78FC6E608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555EB-F2D7-C8B4-F25A-3206F7DB3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2A986-4DFE-458C-AD4D-F20CD8274ED0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49643-69A4-8AAA-CB67-3562C513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F7EAC-9EC9-112A-18B4-13B6F22CD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BFE-6DB7-4301-868D-53B7D568D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713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6144FD-44D0-5499-AB6E-8E0DD6C0C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B4CBB4-B89A-E7B8-FDAA-2404D262E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7B4FB-0E05-C3CD-4A8D-195FC3604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2A986-4DFE-458C-AD4D-F20CD8274ED0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30816-CF3B-DE5E-842E-D984A23E5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9D1D8-0FA4-9AB5-88FB-CF369E819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BFE-6DB7-4301-868D-53B7D568D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3859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BB666D-FE93-F2F2-88D1-8BAE33433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03C85-76B6-98CA-9A4F-FADC57AB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BE5E8-F53C-AC04-6F8F-F53AB3883B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2A986-4DFE-458C-AD4D-F20CD8274ED0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81DC6-1997-9DDD-A7DC-0F868D58AE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44D96-9F28-02AB-5F40-FF0E6AFE2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09FBFE-6DB7-4301-868D-53B7D568D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9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DB280-AE6F-9EC3-E1D7-03740114D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CBE27-A42C-00A1-16AA-B407CCB99E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094889-A718-D663-592C-A091ED21510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3EEC43-F2AB-79FF-8FA5-DE64D585D4A6}"/>
              </a:ext>
            </a:extLst>
          </p:cNvPr>
          <p:cNvSpPr txBox="1"/>
          <p:nvPr/>
        </p:nvSpPr>
        <p:spPr>
          <a:xfrm>
            <a:off x="777240" y="1234440"/>
            <a:ext cx="5487271" cy="1308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dirty="0">
                <a:latin typeface="Bell MT" panose="02020503060305020303" pitchFamily="18" charset="0"/>
              </a:rPr>
              <a:t>SIDONPAY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latin typeface="Bell MT" panose="02020503060305020303" pitchFamily="18" charset="0"/>
              </a:rPr>
              <a:t>Market Research &amp; Data Strategy</a:t>
            </a:r>
          </a:p>
          <a:p>
            <a:pPr>
              <a:defRPr sz="1700">
                <a:solidFill>
                  <a:srgbClr val="BEDCDE"/>
                </a:solidFill>
              </a:defRPr>
            </a:pPr>
            <a:r>
              <a:rPr dirty="0">
                <a:latin typeface="Bell MT" panose="02020503060305020303" pitchFamily="18" charset="0"/>
              </a:rPr>
              <a:t>Competitive analysis of </a:t>
            </a:r>
            <a:r>
              <a:rPr dirty="0" err="1">
                <a:latin typeface="Bell MT" panose="02020503060305020303" pitchFamily="18" charset="0"/>
              </a:rPr>
              <a:t>OPay</a:t>
            </a:r>
            <a:r>
              <a:rPr dirty="0">
                <a:latin typeface="Bell MT" panose="02020503060305020303" pitchFamily="18" charset="0"/>
              </a:rPr>
              <a:t>, </a:t>
            </a:r>
            <a:r>
              <a:rPr dirty="0" err="1">
                <a:latin typeface="Bell MT" panose="02020503060305020303" pitchFamily="18" charset="0"/>
              </a:rPr>
              <a:t>Raenest</a:t>
            </a:r>
            <a:r>
              <a:rPr dirty="0">
                <a:latin typeface="Bell MT" panose="02020503060305020303" pitchFamily="18" charset="0"/>
              </a:rPr>
              <a:t> &amp; Wise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E255FAA5-B62A-D67B-D227-80BBF66F30FC}"/>
              </a:ext>
            </a:extLst>
          </p:cNvPr>
          <p:cNvSpPr/>
          <p:nvPr/>
        </p:nvSpPr>
        <p:spPr>
          <a:xfrm>
            <a:off x="822960" y="3977639"/>
            <a:ext cx="3337560" cy="1234440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7542E6-1864-FF40-F564-81720B44A946}"/>
              </a:ext>
            </a:extLst>
          </p:cNvPr>
          <p:cNvSpPr/>
          <p:nvPr/>
        </p:nvSpPr>
        <p:spPr>
          <a:xfrm>
            <a:off x="822960" y="3977639"/>
            <a:ext cx="73152" cy="1234440"/>
          </a:xfrm>
          <a:prstGeom prst="rect">
            <a:avLst/>
          </a:prstGeom>
          <a:solidFill>
            <a:srgbClr val="14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CC93AC-AC11-91F7-99EC-FA5454D38B5E}"/>
              </a:ext>
            </a:extLst>
          </p:cNvPr>
          <p:cNvSpPr txBox="1"/>
          <p:nvPr/>
        </p:nvSpPr>
        <p:spPr>
          <a:xfrm>
            <a:off x="1024128" y="4114800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r>
              <a:rPr dirty="0"/>
              <a:t>Market insight</a:t>
            </a:r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dirty="0"/>
              <a:t>Local everyday finance and global spending remain fragmented across apps.</a:t>
            </a: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4292118E-ABF2-A1EC-A26C-ACCE9079B76F}"/>
              </a:ext>
            </a:extLst>
          </p:cNvPr>
          <p:cNvSpPr/>
          <p:nvPr/>
        </p:nvSpPr>
        <p:spPr>
          <a:xfrm>
            <a:off x="4434840" y="3977639"/>
            <a:ext cx="3337560" cy="1234440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AA4B8B-D467-F280-34EF-68F3E497330D}"/>
              </a:ext>
            </a:extLst>
          </p:cNvPr>
          <p:cNvSpPr/>
          <p:nvPr/>
        </p:nvSpPr>
        <p:spPr>
          <a:xfrm>
            <a:off x="4434840" y="3977639"/>
            <a:ext cx="73152" cy="1234440"/>
          </a:xfrm>
          <a:prstGeom prst="rect">
            <a:avLst/>
          </a:prstGeom>
          <a:solidFill>
            <a:srgbClr val="14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C3024E-8AEF-82BC-8E95-09CAF93A8022}"/>
              </a:ext>
            </a:extLst>
          </p:cNvPr>
          <p:cNvSpPr txBox="1"/>
          <p:nvPr/>
        </p:nvSpPr>
        <p:spPr>
          <a:xfrm>
            <a:off x="4636007" y="4114800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r>
              <a:t>SIDONPAY opportunity</a:t>
            </a:r>
          </a:p>
          <a:p>
            <a:pPr>
              <a:defRPr sz="1150">
                <a:solidFill>
                  <a:srgbClr val="26303C"/>
                </a:solidFill>
              </a:defRPr>
            </a:pPr>
            <a:r>
              <a:t>Unify NGN bills, USD account and USD virtual card with clear pricing.</a:t>
            </a: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D437325C-7C77-8C3B-8E1A-31FDC7599509}"/>
              </a:ext>
            </a:extLst>
          </p:cNvPr>
          <p:cNvSpPr/>
          <p:nvPr/>
        </p:nvSpPr>
        <p:spPr>
          <a:xfrm>
            <a:off x="8046720" y="3977639"/>
            <a:ext cx="3337560" cy="1234440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750E7F-B700-A4BA-BEDB-4984B92D2D11}"/>
              </a:ext>
            </a:extLst>
          </p:cNvPr>
          <p:cNvSpPr/>
          <p:nvPr/>
        </p:nvSpPr>
        <p:spPr>
          <a:xfrm>
            <a:off x="8046720" y="3977639"/>
            <a:ext cx="73152" cy="1234440"/>
          </a:xfrm>
          <a:prstGeom prst="rect">
            <a:avLst/>
          </a:prstGeom>
          <a:solidFill>
            <a:srgbClr val="78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86E9C1-C14B-5596-5566-5EFCA72D560D}"/>
              </a:ext>
            </a:extLst>
          </p:cNvPr>
          <p:cNvSpPr txBox="1"/>
          <p:nvPr/>
        </p:nvSpPr>
        <p:spPr>
          <a:xfrm>
            <a:off x="8247888" y="4114800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r>
              <a:t>Data opportunity</a:t>
            </a:r>
          </a:p>
          <a:p>
            <a:pPr>
              <a:defRPr sz="1150">
                <a:solidFill>
                  <a:srgbClr val="26303C"/>
                </a:solidFill>
              </a:defRPr>
            </a:pPr>
            <a:r>
              <a:t>Turn KYC, transactions, fees and cross-product journeys into decision signals.</a:t>
            </a:r>
          </a:p>
        </p:txBody>
      </p:sp>
    </p:spTree>
    <p:extLst>
      <p:ext uri="{BB962C8B-B14F-4D97-AF65-F5344CB8AC3E}">
        <p14:creationId xmlns:p14="http://schemas.microsoft.com/office/powerpoint/2010/main" val="37536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67C5A-88AE-76DF-F7AD-28CA139C6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5B82A-1824-7589-4641-4E23E8254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8AA12A-389F-86C9-AE25-045620E93CC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8C5678-AC0E-44D6-8D48-660BC22B8CD7}"/>
              </a:ext>
            </a:extLst>
          </p:cNvPr>
          <p:cNvSpPr txBox="1"/>
          <p:nvPr/>
        </p:nvSpPr>
        <p:spPr>
          <a:xfrm>
            <a:off x="530352" y="279083"/>
            <a:ext cx="352962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53F"/>
                </a:solidFill>
              </a:defRPr>
            </a:pPr>
            <a:r>
              <a:rPr>
                <a:latin typeface="Bell MT" panose="02020503060305020303" pitchFamily="18" charset="0"/>
              </a:rPr>
              <a:t>1. Executive 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E6B49D-6D1D-09DA-2476-DE5EFFE72DEA}"/>
              </a:ext>
            </a:extLst>
          </p:cNvPr>
          <p:cNvSpPr txBox="1"/>
          <p:nvPr/>
        </p:nvSpPr>
        <p:spPr>
          <a:xfrm>
            <a:off x="621792" y="941832"/>
            <a:ext cx="3773790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A"/>
                </a:solidFill>
              </a:defRPr>
            </a:pPr>
            <a:r>
              <a:rPr b="1" dirty="0">
                <a:solidFill>
                  <a:srgbClr val="002060"/>
                </a:solidFill>
              </a:rPr>
              <a:t>What the competitive research says about the opportunity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0EF1AFAB-6B68-05C8-0325-C39082A32C8B}"/>
              </a:ext>
            </a:extLst>
          </p:cNvPr>
          <p:cNvSpPr/>
          <p:nvPr/>
        </p:nvSpPr>
        <p:spPr>
          <a:xfrm>
            <a:off x="640080" y="1417320"/>
            <a:ext cx="3520440" cy="4343400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BB1C61-0816-DC5B-4A80-1AFCD2FC4E90}"/>
              </a:ext>
            </a:extLst>
          </p:cNvPr>
          <p:cNvSpPr/>
          <p:nvPr/>
        </p:nvSpPr>
        <p:spPr>
          <a:xfrm>
            <a:off x="640080" y="1417320"/>
            <a:ext cx="73152" cy="4343400"/>
          </a:xfrm>
          <a:prstGeom prst="rect">
            <a:avLst/>
          </a:prstGeom>
          <a:solidFill>
            <a:srgbClr val="14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0F3C1D-2E56-A9D3-A81A-DCDDFF7A712A}"/>
              </a:ext>
            </a:extLst>
          </p:cNvPr>
          <p:cNvSpPr txBox="1"/>
          <p:nvPr/>
        </p:nvSpPr>
        <p:spPr>
          <a:xfrm>
            <a:off x="841247" y="1554480"/>
            <a:ext cx="3154680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r>
              <a:rPr dirty="0" err="1">
                <a:latin typeface="Bell MT" panose="02020503060305020303" pitchFamily="18" charset="0"/>
              </a:rPr>
              <a:t>OPay</a:t>
            </a:r>
            <a:r>
              <a:rPr dirty="0">
                <a:latin typeface="Bell MT" panose="02020503060305020303" pitchFamily="18" charset="0"/>
              </a:rPr>
              <a:t> — local utility</a:t>
            </a:r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b="1" dirty="0"/>
              <a:t>Strong benchmark for everyday Nigerian payments: transfers, airtime/data, bills, merchant/POS and cards.</a:t>
            </a:r>
            <a:br>
              <a:rPr b="1" dirty="0"/>
            </a:br>
            <a:br>
              <a:rPr b="1" dirty="0"/>
            </a:br>
            <a:r>
              <a:rPr b="1" dirty="0"/>
              <a:t>Lesson: make local use frequent and convenient.</a:t>
            </a:r>
          </a:p>
        </p:txBody>
      </p:sp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2FB8DBA1-A4B6-9284-0082-A33D9C0DA258}"/>
              </a:ext>
            </a:extLst>
          </p:cNvPr>
          <p:cNvSpPr/>
          <p:nvPr/>
        </p:nvSpPr>
        <p:spPr>
          <a:xfrm>
            <a:off x="4343400" y="1417320"/>
            <a:ext cx="3520440" cy="4343400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932913-B5D6-7268-0979-65378BAF0ACB}"/>
              </a:ext>
            </a:extLst>
          </p:cNvPr>
          <p:cNvSpPr/>
          <p:nvPr/>
        </p:nvSpPr>
        <p:spPr>
          <a:xfrm>
            <a:off x="4343400" y="1417320"/>
            <a:ext cx="73152" cy="4343400"/>
          </a:xfrm>
          <a:prstGeom prst="rect">
            <a:avLst/>
          </a:prstGeom>
          <a:solidFill>
            <a:srgbClr val="14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BCC1C2-8720-FB5D-D946-B601D16A554E}"/>
              </a:ext>
            </a:extLst>
          </p:cNvPr>
          <p:cNvSpPr txBox="1"/>
          <p:nvPr/>
        </p:nvSpPr>
        <p:spPr>
          <a:xfrm>
            <a:off x="4544568" y="1554480"/>
            <a:ext cx="3154680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r>
              <a:rPr dirty="0" err="1">
                <a:latin typeface="Bell MT" panose="02020503060305020303" pitchFamily="18" charset="0"/>
              </a:rPr>
              <a:t>Raenest</a:t>
            </a:r>
            <a:r>
              <a:rPr dirty="0">
                <a:latin typeface="Bell MT" panose="02020503060305020303" pitchFamily="18" charset="0"/>
              </a:rPr>
              <a:t> — local + global</a:t>
            </a:r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b="1" dirty="0"/>
              <a:t>Strong benchmark for USD/multi-currency accounts, global payments, USD card, KYC-linked limits and published fees.</a:t>
            </a:r>
            <a:br>
              <a:rPr b="1" dirty="0"/>
            </a:br>
            <a:br>
              <a:rPr b="1" dirty="0"/>
            </a:br>
            <a:r>
              <a:rPr b="1" dirty="0"/>
              <a:t>Lesson: make global spending practical.</a:t>
            </a: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41861704-CA12-5145-FDD4-E8BB16A8A7C4}"/>
              </a:ext>
            </a:extLst>
          </p:cNvPr>
          <p:cNvSpPr/>
          <p:nvPr/>
        </p:nvSpPr>
        <p:spPr>
          <a:xfrm>
            <a:off x="8046720" y="1417320"/>
            <a:ext cx="3520440" cy="4343400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C83EB2-7FA7-EE7F-4170-BFF4AB8DF27A}"/>
              </a:ext>
            </a:extLst>
          </p:cNvPr>
          <p:cNvSpPr/>
          <p:nvPr/>
        </p:nvSpPr>
        <p:spPr>
          <a:xfrm>
            <a:off x="8046720" y="1417320"/>
            <a:ext cx="73152" cy="4343400"/>
          </a:xfrm>
          <a:prstGeom prst="rect">
            <a:avLst/>
          </a:prstGeom>
          <a:solidFill>
            <a:srgbClr val="14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AE778D-F452-0185-ACBF-7AC54C954A59}"/>
              </a:ext>
            </a:extLst>
          </p:cNvPr>
          <p:cNvSpPr txBox="1"/>
          <p:nvPr/>
        </p:nvSpPr>
        <p:spPr>
          <a:xfrm>
            <a:off x="8247888" y="1554480"/>
            <a:ext cx="3154680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r>
              <a:rPr dirty="0">
                <a:latin typeface="Bell MT" panose="02020503060305020303" pitchFamily="18" charset="0"/>
              </a:rPr>
              <a:t>Wise — transparency</a:t>
            </a:r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b="1" dirty="0"/>
              <a:t>Strong benchmark for cross-border money movement, multi-currency management, mid-market FX positioning and transparent pricing.</a:t>
            </a:r>
            <a:br>
              <a:rPr b="1" dirty="0"/>
            </a:br>
            <a:br>
              <a:rPr b="1" dirty="0"/>
            </a:br>
            <a:r>
              <a:rPr b="1" dirty="0"/>
              <a:t>Lesson: make total cost easy to understand.</a:t>
            </a:r>
          </a:p>
        </p:txBody>
      </p:sp>
    </p:spTree>
    <p:extLst>
      <p:ext uri="{BB962C8B-B14F-4D97-AF65-F5344CB8AC3E}">
        <p14:creationId xmlns:p14="http://schemas.microsoft.com/office/powerpoint/2010/main" val="647586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CB12-B08A-F889-0383-3E4A790E7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55EAD-3426-A526-5A7D-BBEA863EF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7E29FD-484E-1D09-E904-1507ABEB4E0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D7187-AB75-F363-5996-E3002B749E06}"/>
              </a:ext>
            </a:extLst>
          </p:cNvPr>
          <p:cNvSpPr txBox="1"/>
          <p:nvPr/>
        </p:nvSpPr>
        <p:spPr>
          <a:xfrm>
            <a:off x="594360" y="347472"/>
            <a:ext cx="528304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53F"/>
                </a:solidFill>
              </a:defRPr>
            </a:pPr>
            <a:r>
              <a:rPr lang="en-GB" b="1" dirty="0">
                <a:latin typeface="Bell MT" panose="02020503060305020303" pitchFamily="18" charset="0"/>
              </a:rPr>
              <a:t>2</a:t>
            </a:r>
            <a:r>
              <a:rPr b="1" dirty="0">
                <a:latin typeface="Bell MT" panose="02020503060305020303" pitchFamily="18" charset="0"/>
              </a:rPr>
              <a:t>. Competitor Positioning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D8C7D-A270-4C12-648F-AFC7C7237BF3}"/>
              </a:ext>
            </a:extLst>
          </p:cNvPr>
          <p:cNvSpPr txBox="1"/>
          <p:nvPr/>
        </p:nvSpPr>
        <p:spPr>
          <a:xfrm>
            <a:off x="621792" y="941832"/>
            <a:ext cx="5726248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A"/>
                </a:solidFill>
              </a:defRPr>
            </a:pPr>
            <a:r>
              <a:rPr b="1" dirty="0"/>
              <a:t>Analytical positioning based on the submitted research; not a claim of absolute superiority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724EA3-4265-16D3-E066-19C7E140DA73}"/>
              </a:ext>
            </a:extLst>
          </p:cNvPr>
          <p:cNvSpPr txBox="1"/>
          <p:nvPr/>
        </p:nvSpPr>
        <p:spPr>
          <a:xfrm>
            <a:off x="594360" y="6473952"/>
            <a:ext cx="19479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A"/>
                </a:solidFill>
              </a:defRPr>
            </a:pPr>
            <a:r>
              <a:rPr b="1"/>
              <a:t>SIDONPAY | Team Beta — Week 1 &amp; 2 | 5</a:t>
            </a:r>
          </a:p>
        </p:txBody>
      </p:sp>
      <p:sp>
        <p:nvSpPr>
          <p:cNvPr id="8" name="Rounded Rectangle 155">
            <a:extLst>
              <a:ext uri="{FF2B5EF4-FFF2-40B4-BE49-F238E27FC236}">
                <a16:creationId xmlns:a16="http://schemas.microsoft.com/office/drawing/2014/main" id="{34435ED4-1324-3FDF-B8F7-D76353A74009}"/>
              </a:ext>
            </a:extLst>
          </p:cNvPr>
          <p:cNvSpPr/>
          <p:nvPr/>
        </p:nvSpPr>
        <p:spPr>
          <a:xfrm>
            <a:off x="320040" y="1234440"/>
            <a:ext cx="2240280" cy="411480"/>
          </a:xfrm>
          <a:prstGeom prst="roundRect">
            <a:avLst/>
          </a:prstGeom>
          <a:solidFill>
            <a:srgbClr val="12253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7661E5-E582-94E2-4665-A4DB582E7DF7}"/>
              </a:ext>
            </a:extLst>
          </p:cNvPr>
          <p:cNvSpPr txBox="1"/>
          <p:nvPr/>
        </p:nvSpPr>
        <p:spPr>
          <a:xfrm>
            <a:off x="393192" y="1271016"/>
            <a:ext cx="58381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rPr b="1"/>
              <a:t>Criterion</a:t>
            </a:r>
          </a:p>
        </p:txBody>
      </p:sp>
      <p:sp>
        <p:nvSpPr>
          <p:cNvPr id="10" name="Rounded Rectangle 157">
            <a:extLst>
              <a:ext uri="{FF2B5EF4-FFF2-40B4-BE49-F238E27FC236}">
                <a16:creationId xmlns:a16="http://schemas.microsoft.com/office/drawing/2014/main" id="{C60D331E-B54A-E48E-08ED-D868D9BE2B0B}"/>
              </a:ext>
            </a:extLst>
          </p:cNvPr>
          <p:cNvSpPr/>
          <p:nvPr/>
        </p:nvSpPr>
        <p:spPr>
          <a:xfrm>
            <a:off x="2606040" y="1234440"/>
            <a:ext cx="1920240" cy="411480"/>
          </a:xfrm>
          <a:prstGeom prst="roundRect">
            <a:avLst/>
          </a:prstGeom>
          <a:solidFill>
            <a:srgbClr val="12253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E9F867-1548-022E-2ADE-887B0FF162D3}"/>
              </a:ext>
            </a:extLst>
          </p:cNvPr>
          <p:cNvSpPr txBox="1"/>
          <p:nvPr/>
        </p:nvSpPr>
        <p:spPr>
          <a:xfrm>
            <a:off x="2679192" y="1271016"/>
            <a:ext cx="659155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rPr b="1"/>
              <a:t>SIDONPAY</a:t>
            </a:r>
          </a:p>
        </p:txBody>
      </p:sp>
      <p:sp>
        <p:nvSpPr>
          <p:cNvPr id="12" name="Rounded Rectangle 159">
            <a:extLst>
              <a:ext uri="{FF2B5EF4-FFF2-40B4-BE49-F238E27FC236}">
                <a16:creationId xmlns:a16="http://schemas.microsoft.com/office/drawing/2014/main" id="{E3BF6115-0BC9-CE94-5670-D1292461F9EE}"/>
              </a:ext>
            </a:extLst>
          </p:cNvPr>
          <p:cNvSpPr/>
          <p:nvPr/>
        </p:nvSpPr>
        <p:spPr>
          <a:xfrm>
            <a:off x="4572000" y="1234440"/>
            <a:ext cx="1920240" cy="411480"/>
          </a:xfrm>
          <a:prstGeom prst="roundRect">
            <a:avLst/>
          </a:prstGeom>
          <a:solidFill>
            <a:srgbClr val="12253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1991B3-EBEC-EBD3-0042-04BA82825DF6}"/>
              </a:ext>
            </a:extLst>
          </p:cNvPr>
          <p:cNvSpPr txBox="1"/>
          <p:nvPr/>
        </p:nvSpPr>
        <p:spPr>
          <a:xfrm>
            <a:off x="4645152" y="1271016"/>
            <a:ext cx="42191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rPr b="1"/>
              <a:t>OPay</a:t>
            </a:r>
          </a:p>
        </p:txBody>
      </p:sp>
      <p:sp>
        <p:nvSpPr>
          <p:cNvPr id="14" name="Rounded Rectangle 161">
            <a:extLst>
              <a:ext uri="{FF2B5EF4-FFF2-40B4-BE49-F238E27FC236}">
                <a16:creationId xmlns:a16="http://schemas.microsoft.com/office/drawing/2014/main" id="{8BEA2664-3D19-CDAD-D037-B728CF40E0B9}"/>
              </a:ext>
            </a:extLst>
          </p:cNvPr>
          <p:cNvSpPr/>
          <p:nvPr/>
        </p:nvSpPr>
        <p:spPr>
          <a:xfrm>
            <a:off x="6537960" y="1234440"/>
            <a:ext cx="1920240" cy="411480"/>
          </a:xfrm>
          <a:prstGeom prst="roundRect">
            <a:avLst/>
          </a:prstGeom>
          <a:solidFill>
            <a:srgbClr val="12253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79CB0C-BF91-B5DA-E849-E57028F51355}"/>
              </a:ext>
            </a:extLst>
          </p:cNvPr>
          <p:cNvSpPr txBox="1"/>
          <p:nvPr/>
        </p:nvSpPr>
        <p:spPr>
          <a:xfrm>
            <a:off x="6611112" y="1271016"/>
            <a:ext cx="54854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rPr b="1"/>
              <a:t>Raenest</a:t>
            </a:r>
          </a:p>
        </p:txBody>
      </p:sp>
      <p:sp>
        <p:nvSpPr>
          <p:cNvPr id="16" name="Rounded Rectangle 163">
            <a:extLst>
              <a:ext uri="{FF2B5EF4-FFF2-40B4-BE49-F238E27FC236}">
                <a16:creationId xmlns:a16="http://schemas.microsoft.com/office/drawing/2014/main" id="{F7E5F6BA-671E-2EC9-C00B-75F1BCB2A0C3}"/>
              </a:ext>
            </a:extLst>
          </p:cNvPr>
          <p:cNvSpPr/>
          <p:nvPr/>
        </p:nvSpPr>
        <p:spPr>
          <a:xfrm>
            <a:off x="8503920" y="1234440"/>
            <a:ext cx="3337560" cy="411480"/>
          </a:xfrm>
          <a:prstGeom prst="roundRect">
            <a:avLst/>
          </a:prstGeom>
          <a:solidFill>
            <a:srgbClr val="12253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17C3B3-A15C-1D09-6D22-DFB35882D363}"/>
              </a:ext>
            </a:extLst>
          </p:cNvPr>
          <p:cNvSpPr txBox="1"/>
          <p:nvPr/>
        </p:nvSpPr>
        <p:spPr>
          <a:xfrm>
            <a:off x="8577072" y="1271016"/>
            <a:ext cx="40908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rPr b="1"/>
              <a:t>Wise</a:t>
            </a:r>
          </a:p>
        </p:txBody>
      </p:sp>
      <p:sp>
        <p:nvSpPr>
          <p:cNvPr id="18" name="Rounded Rectangle 165">
            <a:extLst>
              <a:ext uri="{FF2B5EF4-FFF2-40B4-BE49-F238E27FC236}">
                <a16:creationId xmlns:a16="http://schemas.microsoft.com/office/drawing/2014/main" id="{A55BE1B5-CA04-7921-EF9C-47E76F8809D8}"/>
              </a:ext>
            </a:extLst>
          </p:cNvPr>
          <p:cNvSpPr/>
          <p:nvPr/>
        </p:nvSpPr>
        <p:spPr>
          <a:xfrm>
            <a:off x="320040" y="1691640"/>
            <a:ext cx="224028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6D6062-96C2-AC66-CA25-C160A3AD0066}"/>
              </a:ext>
            </a:extLst>
          </p:cNvPr>
          <p:cNvSpPr txBox="1"/>
          <p:nvPr/>
        </p:nvSpPr>
        <p:spPr>
          <a:xfrm>
            <a:off x="393192" y="1728216"/>
            <a:ext cx="728084" cy="206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40" b="0">
                <a:solidFill>
                  <a:srgbClr val="26303C"/>
                </a:solidFill>
              </a:defRPr>
            </a:pPr>
            <a:r>
              <a:rPr b="1"/>
              <a:t>Primary focus</a:t>
            </a:r>
          </a:p>
        </p:txBody>
      </p:sp>
      <p:sp>
        <p:nvSpPr>
          <p:cNvPr id="20" name="Rounded Rectangle 167">
            <a:extLst>
              <a:ext uri="{FF2B5EF4-FFF2-40B4-BE49-F238E27FC236}">
                <a16:creationId xmlns:a16="http://schemas.microsoft.com/office/drawing/2014/main" id="{2F171D11-1293-606B-1887-724D67711473}"/>
              </a:ext>
            </a:extLst>
          </p:cNvPr>
          <p:cNvSpPr/>
          <p:nvPr/>
        </p:nvSpPr>
        <p:spPr>
          <a:xfrm>
            <a:off x="2606040" y="1691640"/>
            <a:ext cx="192024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A1117E-D148-C9CF-C2B1-867F3A127AC4}"/>
              </a:ext>
            </a:extLst>
          </p:cNvPr>
          <p:cNvSpPr txBox="1"/>
          <p:nvPr/>
        </p:nvSpPr>
        <p:spPr>
          <a:xfrm>
            <a:off x="2679192" y="1728216"/>
            <a:ext cx="1859805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Nigeria-first multi-currency consumer wallet</a:t>
            </a:r>
          </a:p>
        </p:txBody>
      </p:sp>
      <p:sp>
        <p:nvSpPr>
          <p:cNvPr id="22" name="Rounded Rectangle 169">
            <a:extLst>
              <a:ext uri="{FF2B5EF4-FFF2-40B4-BE49-F238E27FC236}">
                <a16:creationId xmlns:a16="http://schemas.microsoft.com/office/drawing/2014/main" id="{1EF1CC99-405E-9BFF-6214-EAC89DD2FE9D}"/>
              </a:ext>
            </a:extLst>
          </p:cNvPr>
          <p:cNvSpPr/>
          <p:nvPr/>
        </p:nvSpPr>
        <p:spPr>
          <a:xfrm>
            <a:off x="4572000" y="1691640"/>
            <a:ext cx="192024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4A8C31-D6FA-ECBD-AAE7-BF555F2393A7}"/>
              </a:ext>
            </a:extLst>
          </p:cNvPr>
          <p:cNvSpPr txBox="1"/>
          <p:nvPr/>
        </p:nvSpPr>
        <p:spPr>
          <a:xfrm>
            <a:off x="4645152" y="1728216"/>
            <a:ext cx="1535998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Everyday Nigerian financial services</a:t>
            </a:r>
          </a:p>
        </p:txBody>
      </p:sp>
      <p:sp>
        <p:nvSpPr>
          <p:cNvPr id="24" name="Rounded Rectangle 171">
            <a:extLst>
              <a:ext uri="{FF2B5EF4-FFF2-40B4-BE49-F238E27FC236}">
                <a16:creationId xmlns:a16="http://schemas.microsoft.com/office/drawing/2014/main" id="{8F188708-FA68-0B88-537E-15E655EB16A6}"/>
              </a:ext>
            </a:extLst>
          </p:cNvPr>
          <p:cNvSpPr/>
          <p:nvPr/>
        </p:nvSpPr>
        <p:spPr>
          <a:xfrm>
            <a:off x="6537960" y="1691640"/>
            <a:ext cx="192024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3A8F5C-92E6-62EA-3358-BC0B6999535D}"/>
              </a:ext>
            </a:extLst>
          </p:cNvPr>
          <p:cNvSpPr txBox="1"/>
          <p:nvPr/>
        </p:nvSpPr>
        <p:spPr>
          <a:xfrm>
            <a:off x="6421326" y="1728216"/>
            <a:ext cx="2276585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 dirty="0"/>
              <a:t>Global financial services for internationally active users</a:t>
            </a:r>
          </a:p>
        </p:txBody>
      </p:sp>
      <p:sp>
        <p:nvSpPr>
          <p:cNvPr id="26" name="Rounded Rectangle 173">
            <a:extLst>
              <a:ext uri="{FF2B5EF4-FFF2-40B4-BE49-F238E27FC236}">
                <a16:creationId xmlns:a16="http://schemas.microsoft.com/office/drawing/2014/main" id="{0AC9A537-87AF-5DF6-763D-35DB3E11CC1A}"/>
              </a:ext>
            </a:extLst>
          </p:cNvPr>
          <p:cNvSpPr/>
          <p:nvPr/>
        </p:nvSpPr>
        <p:spPr>
          <a:xfrm>
            <a:off x="8503920" y="1691640"/>
            <a:ext cx="333756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E8E7AB-A68F-F27E-0A04-346B3A9B758C}"/>
              </a:ext>
            </a:extLst>
          </p:cNvPr>
          <p:cNvSpPr txBox="1"/>
          <p:nvPr/>
        </p:nvSpPr>
        <p:spPr>
          <a:xfrm>
            <a:off x="8577072" y="1728216"/>
            <a:ext cx="1396536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International money movement</a:t>
            </a:r>
          </a:p>
        </p:txBody>
      </p:sp>
      <p:sp>
        <p:nvSpPr>
          <p:cNvPr id="28" name="Rounded Rectangle 175">
            <a:extLst>
              <a:ext uri="{FF2B5EF4-FFF2-40B4-BE49-F238E27FC236}">
                <a16:creationId xmlns:a16="http://schemas.microsoft.com/office/drawing/2014/main" id="{2E9BC1B4-DE8C-0301-0FD9-954869FA1E47}"/>
              </a:ext>
            </a:extLst>
          </p:cNvPr>
          <p:cNvSpPr/>
          <p:nvPr/>
        </p:nvSpPr>
        <p:spPr>
          <a:xfrm>
            <a:off x="320040" y="2052828"/>
            <a:ext cx="224028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833D18-AA37-25CA-F0DA-7F4BEC6960DE}"/>
              </a:ext>
            </a:extLst>
          </p:cNvPr>
          <p:cNvSpPr txBox="1"/>
          <p:nvPr/>
        </p:nvSpPr>
        <p:spPr>
          <a:xfrm>
            <a:off x="393192" y="2089404"/>
            <a:ext cx="1205779" cy="206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40" b="0">
                <a:solidFill>
                  <a:srgbClr val="26303C"/>
                </a:solidFill>
              </a:defRPr>
            </a:pPr>
            <a:r>
              <a:rPr b="1"/>
              <a:t>Primary market relevance</a:t>
            </a:r>
          </a:p>
        </p:txBody>
      </p:sp>
      <p:sp>
        <p:nvSpPr>
          <p:cNvPr id="30" name="Rounded Rectangle 177">
            <a:extLst>
              <a:ext uri="{FF2B5EF4-FFF2-40B4-BE49-F238E27FC236}">
                <a16:creationId xmlns:a16="http://schemas.microsoft.com/office/drawing/2014/main" id="{E4E52432-B1B4-2DBC-1B7E-353BDA957FBE}"/>
              </a:ext>
            </a:extLst>
          </p:cNvPr>
          <p:cNvSpPr/>
          <p:nvPr/>
        </p:nvSpPr>
        <p:spPr>
          <a:xfrm>
            <a:off x="2606040" y="2052828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110196-0FB0-8C47-B2DD-8D3673E14E62}"/>
              </a:ext>
            </a:extLst>
          </p:cNvPr>
          <p:cNvSpPr txBox="1"/>
          <p:nvPr/>
        </p:nvSpPr>
        <p:spPr>
          <a:xfrm>
            <a:off x="2679192" y="2089404"/>
            <a:ext cx="635110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Nigeria-first</a:t>
            </a:r>
          </a:p>
        </p:txBody>
      </p:sp>
      <p:sp>
        <p:nvSpPr>
          <p:cNvPr id="32" name="Rounded Rectangle 179">
            <a:extLst>
              <a:ext uri="{FF2B5EF4-FFF2-40B4-BE49-F238E27FC236}">
                <a16:creationId xmlns:a16="http://schemas.microsoft.com/office/drawing/2014/main" id="{5DF13193-E69E-9ECA-C576-2BEB5BB59957}"/>
              </a:ext>
            </a:extLst>
          </p:cNvPr>
          <p:cNvSpPr/>
          <p:nvPr/>
        </p:nvSpPr>
        <p:spPr>
          <a:xfrm>
            <a:off x="4572000" y="2052828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FB79AF-9CC7-5959-EB49-2117E47A6DE3}"/>
              </a:ext>
            </a:extLst>
          </p:cNvPr>
          <p:cNvSpPr txBox="1"/>
          <p:nvPr/>
        </p:nvSpPr>
        <p:spPr>
          <a:xfrm>
            <a:off x="4645152" y="2089404"/>
            <a:ext cx="455574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Nigeria</a:t>
            </a:r>
          </a:p>
        </p:txBody>
      </p:sp>
      <p:sp>
        <p:nvSpPr>
          <p:cNvPr id="34" name="Rounded Rectangle 181">
            <a:extLst>
              <a:ext uri="{FF2B5EF4-FFF2-40B4-BE49-F238E27FC236}">
                <a16:creationId xmlns:a16="http://schemas.microsoft.com/office/drawing/2014/main" id="{6B3CB539-0B04-6496-73C7-D3605A6A75AA}"/>
              </a:ext>
            </a:extLst>
          </p:cNvPr>
          <p:cNvSpPr/>
          <p:nvPr/>
        </p:nvSpPr>
        <p:spPr>
          <a:xfrm>
            <a:off x="6537960" y="2052828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8EB794-2E62-FB4F-B499-8101690AD9F1}"/>
              </a:ext>
            </a:extLst>
          </p:cNvPr>
          <p:cNvSpPr txBox="1"/>
          <p:nvPr/>
        </p:nvSpPr>
        <p:spPr>
          <a:xfrm>
            <a:off x="6611112" y="2089404"/>
            <a:ext cx="1035861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Nigeria + international</a:t>
            </a:r>
          </a:p>
        </p:txBody>
      </p:sp>
      <p:sp>
        <p:nvSpPr>
          <p:cNvPr id="36" name="Rounded Rectangle 183">
            <a:extLst>
              <a:ext uri="{FF2B5EF4-FFF2-40B4-BE49-F238E27FC236}">
                <a16:creationId xmlns:a16="http://schemas.microsoft.com/office/drawing/2014/main" id="{AD6689EB-F674-7C5B-7747-F6213F767EAF}"/>
              </a:ext>
            </a:extLst>
          </p:cNvPr>
          <p:cNvSpPr/>
          <p:nvPr/>
        </p:nvSpPr>
        <p:spPr>
          <a:xfrm>
            <a:off x="8503920" y="2052828"/>
            <a:ext cx="333756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429076-DAD5-7ADF-D2D9-BCF5B0AB4A9F}"/>
              </a:ext>
            </a:extLst>
          </p:cNvPr>
          <p:cNvSpPr txBox="1"/>
          <p:nvPr/>
        </p:nvSpPr>
        <p:spPr>
          <a:xfrm>
            <a:off x="8577072" y="2089404"/>
            <a:ext cx="429926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Global</a:t>
            </a:r>
          </a:p>
        </p:txBody>
      </p:sp>
      <p:sp>
        <p:nvSpPr>
          <p:cNvPr id="38" name="Rounded Rectangle 185">
            <a:extLst>
              <a:ext uri="{FF2B5EF4-FFF2-40B4-BE49-F238E27FC236}">
                <a16:creationId xmlns:a16="http://schemas.microsoft.com/office/drawing/2014/main" id="{8371F594-51C7-5AE4-0650-63FEBA2211CF}"/>
              </a:ext>
            </a:extLst>
          </p:cNvPr>
          <p:cNvSpPr/>
          <p:nvPr/>
        </p:nvSpPr>
        <p:spPr>
          <a:xfrm>
            <a:off x="320040" y="2350008"/>
            <a:ext cx="224028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B32A18-2EB0-03E5-FFAC-3911E6DEC08C}"/>
              </a:ext>
            </a:extLst>
          </p:cNvPr>
          <p:cNvSpPr txBox="1"/>
          <p:nvPr/>
        </p:nvSpPr>
        <p:spPr>
          <a:xfrm>
            <a:off x="393192" y="2386584"/>
            <a:ext cx="707245" cy="206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40" b="0">
                <a:solidFill>
                  <a:srgbClr val="26303C"/>
                </a:solidFill>
              </a:defRPr>
            </a:pPr>
            <a:r>
              <a:rPr b="1"/>
              <a:t>NGN services</a:t>
            </a:r>
          </a:p>
        </p:txBody>
      </p:sp>
      <p:sp>
        <p:nvSpPr>
          <p:cNvPr id="40" name="Rounded Rectangle 187">
            <a:extLst>
              <a:ext uri="{FF2B5EF4-FFF2-40B4-BE49-F238E27FC236}">
                <a16:creationId xmlns:a16="http://schemas.microsoft.com/office/drawing/2014/main" id="{BC3852B8-E477-F08B-B99C-C329FA7957BA}"/>
              </a:ext>
            </a:extLst>
          </p:cNvPr>
          <p:cNvSpPr/>
          <p:nvPr/>
        </p:nvSpPr>
        <p:spPr>
          <a:xfrm>
            <a:off x="2606040" y="2350008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0A4119-2ABC-0D0D-F04D-4CD7B5E63CA0}"/>
              </a:ext>
            </a:extLst>
          </p:cNvPr>
          <p:cNvSpPr txBox="1"/>
          <p:nvPr/>
        </p:nvSpPr>
        <p:spPr>
          <a:xfrm>
            <a:off x="2679192" y="2386584"/>
            <a:ext cx="679994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Strong / core</a:t>
            </a:r>
          </a:p>
        </p:txBody>
      </p:sp>
      <p:sp>
        <p:nvSpPr>
          <p:cNvPr id="42" name="Rounded Rectangle 189">
            <a:extLst>
              <a:ext uri="{FF2B5EF4-FFF2-40B4-BE49-F238E27FC236}">
                <a16:creationId xmlns:a16="http://schemas.microsoft.com/office/drawing/2014/main" id="{784D351A-51C5-4942-E3E3-DD794FC7A253}"/>
              </a:ext>
            </a:extLst>
          </p:cNvPr>
          <p:cNvSpPr/>
          <p:nvPr/>
        </p:nvSpPr>
        <p:spPr>
          <a:xfrm>
            <a:off x="4572000" y="2350008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017C51-B75E-03C6-F993-965627F834E0}"/>
              </a:ext>
            </a:extLst>
          </p:cNvPr>
          <p:cNvSpPr txBox="1"/>
          <p:nvPr/>
        </p:nvSpPr>
        <p:spPr>
          <a:xfrm>
            <a:off x="4645152" y="2386584"/>
            <a:ext cx="433132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Strong</a:t>
            </a:r>
          </a:p>
        </p:txBody>
      </p:sp>
      <p:sp>
        <p:nvSpPr>
          <p:cNvPr id="44" name="Rounded Rectangle 191">
            <a:extLst>
              <a:ext uri="{FF2B5EF4-FFF2-40B4-BE49-F238E27FC236}">
                <a16:creationId xmlns:a16="http://schemas.microsoft.com/office/drawing/2014/main" id="{61715E5B-F5C5-6398-C9A6-72AE4F4261D0}"/>
              </a:ext>
            </a:extLst>
          </p:cNvPr>
          <p:cNvSpPr/>
          <p:nvPr/>
        </p:nvSpPr>
        <p:spPr>
          <a:xfrm>
            <a:off x="6537960" y="2350008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5FA577-68D6-2154-57E7-92D573B55680}"/>
              </a:ext>
            </a:extLst>
          </p:cNvPr>
          <p:cNvSpPr txBox="1"/>
          <p:nvPr/>
        </p:nvSpPr>
        <p:spPr>
          <a:xfrm>
            <a:off x="6611112" y="2386584"/>
            <a:ext cx="433132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Strong</a:t>
            </a:r>
          </a:p>
        </p:txBody>
      </p:sp>
      <p:sp>
        <p:nvSpPr>
          <p:cNvPr id="46" name="Rounded Rectangle 193">
            <a:extLst>
              <a:ext uri="{FF2B5EF4-FFF2-40B4-BE49-F238E27FC236}">
                <a16:creationId xmlns:a16="http://schemas.microsoft.com/office/drawing/2014/main" id="{75B8EE64-06F8-AE43-EC2A-69A7AABF391A}"/>
              </a:ext>
            </a:extLst>
          </p:cNvPr>
          <p:cNvSpPr/>
          <p:nvPr/>
        </p:nvSpPr>
        <p:spPr>
          <a:xfrm>
            <a:off x="8503920" y="2350008"/>
            <a:ext cx="333756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5E2ED9-0936-959F-930B-CC0E2B055317}"/>
              </a:ext>
            </a:extLst>
          </p:cNvPr>
          <p:cNvSpPr txBox="1"/>
          <p:nvPr/>
        </p:nvSpPr>
        <p:spPr>
          <a:xfrm>
            <a:off x="8577072" y="2386584"/>
            <a:ext cx="468398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Limited</a:t>
            </a:r>
          </a:p>
        </p:txBody>
      </p:sp>
      <p:sp>
        <p:nvSpPr>
          <p:cNvPr id="48" name="Rounded Rectangle 195">
            <a:extLst>
              <a:ext uri="{FF2B5EF4-FFF2-40B4-BE49-F238E27FC236}">
                <a16:creationId xmlns:a16="http://schemas.microsoft.com/office/drawing/2014/main" id="{1F664756-A431-FDB0-1896-4652A691E7D8}"/>
              </a:ext>
            </a:extLst>
          </p:cNvPr>
          <p:cNvSpPr/>
          <p:nvPr/>
        </p:nvSpPr>
        <p:spPr>
          <a:xfrm>
            <a:off x="320040" y="2647188"/>
            <a:ext cx="224028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828928-D10A-906D-3159-86A1A3681F53}"/>
              </a:ext>
            </a:extLst>
          </p:cNvPr>
          <p:cNvSpPr txBox="1"/>
          <p:nvPr/>
        </p:nvSpPr>
        <p:spPr>
          <a:xfrm>
            <a:off x="393192" y="2683764"/>
            <a:ext cx="772969" cy="206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40" b="0">
                <a:solidFill>
                  <a:srgbClr val="26303C"/>
                </a:solidFill>
              </a:defRPr>
            </a:pPr>
            <a:r>
              <a:rPr b="1"/>
              <a:t>Multi-currency</a:t>
            </a:r>
          </a:p>
        </p:txBody>
      </p:sp>
      <p:sp>
        <p:nvSpPr>
          <p:cNvPr id="50" name="Rounded Rectangle 197">
            <a:extLst>
              <a:ext uri="{FF2B5EF4-FFF2-40B4-BE49-F238E27FC236}">
                <a16:creationId xmlns:a16="http://schemas.microsoft.com/office/drawing/2014/main" id="{76626698-A831-387F-840A-60EE4B3B818A}"/>
              </a:ext>
            </a:extLst>
          </p:cNvPr>
          <p:cNvSpPr/>
          <p:nvPr/>
        </p:nvSpPr>
        <p:spPr>
          <a:xfrm>
            <a:off x="2606040" y="2647188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B19B4A-23EC-814D-2C8E-9CB822ECBF7F}"/>
              </a:ext>
            </a:extLst>
          </p:cNvPr>
          <p:cNvSpPr txBox="1"/>
          <p:nvPr/>
        </p:nvSpPr>
        <p:spPr>
          <a:xfrm>
            <a:off x="2679192" y="2683764"/>
            <a:ext cx="740908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Core proposed</a:t>
            </a:r>
          </a:p>
        </p:txBody>
      </p:sp>
      <p:sp>
        <p:nvSpPr>
          <p:cNvPr id="52" name="Rounded Rectangle 199">
            <a:extLst>
              <a:ext uri="{FF2B5EF4-FFF2-40B4-BE49-F238E27FC236}">
                <a16:creationId xmlns:a16="http://schemas.microsoft.com/office/drawing/2014/main" id="{5D6D36FC-25B9-2078-28CC-34ED8532BCB9}"/>
              </a:ext>
            </a:extLst>
          </p:cNvPr>
          <p:cNvSpPr/>
          <p:nvPr/>
        </p:nvSpPr>
        <p:spPr>
          <a:xfrm>
            <a:off x="4572000" y="2647188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3DF3F4-23E8-B00D-7AA0-330F151431BD}"/>
              </a:ext>
            </a:extLst>
          </p:cNvPr>
          <p:cNvSpPr txBox="1"/>
          <p:nvPr/>
        </p:nvSpPr>
        <p:spPr>
          <a:xfrm>
            <a:off x="4645152" y="2683764"/>
            <a:ext cx="468398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Limited</a:t>
            </a:r>
          </a:p>
        </p:txBody>
      </p:sp>
      <p:sp>
        <p:nvSpPr>
          <p:cNvPr id="54" name="Rounded Rectangle 201">
            <a:extLst>
              <a:ext uri="{FF2B5EF4-FFF2-40B4-BE49-F238E27FC236}">
                <a16:creationId xmlns:a16="http://schemas.microsoft.com/office/drawing/2014/main" id="{2BF41DBA-C42C-BCE6-BD3E-C7BA085DC99A}"/>
              </a:ext>
            </a:extLst>
          </p:cNvPr>
          <p:cNvSpPr/>
          <p:nvPr/>
        </p:nvSpPr>
        <p:spPr>
          <a:xfrm>
            <a:off x="6537960" y="2647188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BF9CFB0-EE02-C206-2CF7-B74D662495FD}"/>
              </a:ext>
            </a:extLst>
          </p:cNvPr>
          <p:cNvSpPr txBox="1"/>
          <p:nvPr/>
        </p:nvSpPr>
        <p:spPr>
          <a:xfrm>
            <a:off x="6611112" y="2683764"/>
            <a:ext cx="433132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Strong</a:t>
            </a:r>
          </a:p>
        </p:txBody>
      </p:sp>
      <p:sp>
        <p:nvSpPr>
          <p:cNvPr id="56" name="Rounded Rectangle 203">
            <a:extLst>
              <a:ext uri="{FF2B5EF4-FFF2-40B4-BE49-F238E27FC236}">
                <a16:creationId xmlns:a16="http://schemas.microsoft.com/office/drawing/2014/main" id="{DE4881CA-973A-4665-8CC1-0C2C55542484}"/>
              </a:ext>
            </a:extLst>
          </p:cNvPr>
          <p:cNvSpPr/>
          <p:nvPr/>
        </p:nvSpPr>
        <p:spPr>
          <a:xfrm>
            <a:off x="8503920" y="2647188"/>
            <a:ext cx="333756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611A4A-BCFE-D129-6AE2-86BB1D98F7A1}"/>
              </a:ext>
            </a:extLst>
          </p:cNvPr>
          <p:cNvSpPr txBox="1"/>
          <p:nvPr/>
        </p:nvSpPr>
        <p:spPr>
          <a:xfrm>
            <a:off x="8577072" y="2683764"/>
            <a:ext cx="623889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Very strong</a:t>
            </a:r>
          </a:p>
        </p:txBody>
      </p:sp>
      <p:sp>
        <p:nvSpPr>
          <p:cNvPr id="58" name="Rounded Rectangle 205">
            <a:extLst>
              <a:ext uri="{FF2B5EF4-FFF2-40B4-BE49-F238E27FC236}">
                <a16:creationId xmlns:a16="http://schemas.microsoft.com/office/drawing/2014/main" id="{4585928E-FCE1-4CEC-0876-1B1B4D9CF356}"/>
              </a:ext>
            </a:extLst>
          </p:cNvPr>
          <p:cNvSpPr/>
          <p:nvPr/>
        </p:nvSpPr>
        <p:spPr>
          <a:xfrm>
            <a:off x="320040" y="2944368"/>
            <a:ext cx="224028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E4A8BF6-CA36-925F-90EB-8F985234F14A}"/>
              </a:ext>
            </a:extLst>
          </p:cNvPr>
          <p:cNvSpPr txBox="1"/>
          <p:nvPr/>
        </p:nvSpPr>
        <p:spPr>
          <a:xfrm>
            <a:off x="393192" y="2980944"/>
            <a:ext cx="686406" cy="206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40" b="0">
                <a:solidFill>
                  <a:srgbClr val="26303C"/>
                </a:solidFill>
              </a:defRPr>
            </a:pPr>
            <a:r>
              <a:rPr b="1"/>
              <a:t>USD account</a:t>
            </a:r>
          </a:p>
        </p:txBody>
      </p:sp>
      <p:sp>
        <p:nvSpPr>
          <p:cNvPr id="60" name="Rounded Rectangle 207">
            <a:extLst>
              <a:ext uri="{FF2B5EF4-FFF2-40B4-BE49-F238E27FC236}">
                <a16:creationId xmlns:a16="http://schemas.microsoft.com/office/drawing/2014/main" id="{C3A60E62-DFB9-D26E-73F6-9A0DF8C88D86}"/>
              </a:ext>
            </a:extLst>
          </p:cNvPr>
          <p:cNvSpPr/>
          <p:nvPr/>
        </p:nvSpPr>
        <p:spPr>
          <a:xfrm>
            <a:off x="2606040" y="2944368"/>
            <a:ext cx="192024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893700-7A40-B74C-F7F1-A670C9C1A7A7}"/>
              </a:ext>
            </a:extLst>
          </p:cNvPr>
          <p:cNvSpPr txBox="1"/>
          <p:nvPr/>
        </p:nvSpPr>
        <p:spPr>
          <a:xfrm>
            <a:off x="2679192" y="2980944"/>
            <a:ext cx="740908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Core proposed</a:t>
            </a:r>
          </a:p>
        </p:txBody>
      </p:sp>
      <p:sp>
        <p:nvSpPr>
          <p:cNvPr id="62" name="Rounded Rectangle 209">
            <a:extLst>
              <a:ext uri="{FF2B5EF4-FFF2-40B4-BE49-F238E27FC236}">
                <a16:creationId xmlns:a16="http://schemas.microsoft.com/office/drawing/2014/main" id="{B602DC1B-F016-9A12-4529-DE6510A4ADA1}"/>
              </a:ext>
            </a:extLst>
          </p:cNvPr>
          <p:cNvSpPr/>
          <p:nvPr/>
        </p:nvSpPr>
        <p:spPr>
          <a:xfrm>
            <a:off x="4572000" y="2944368"/>
            <a:ext cx="192024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CB17439-7CED-1F66-830B-434C76E5A60A}"/>
              </a:ext>
            </a:extLst>
          </p:cNvPr>
          <p:cNvSpPr txBox="1"/>
          <p:nvPr/>
        </p:nvSpPr>
        <p:spPr>
          <a:xfrm>
            <a:off x="4645152" y="2980944"/>
            <a:ext cx="1039067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Not a core proposition</a:t>
            </a:r>
          </a:p>
        </p:txBody>
      </p:sp>
      <p:sp>
        <p:nvSpPr>
          <p:cNvPr id="64" name="Rounded Rectangle 211">
            <a:extLst>
              <a:ext uri="{FF2B5EF4-FFF2-40B4-BE49-F238E27FC236}">
                <a16:creationId xmlns:a16="http://schemas.microsoft.com/office/drawing/2014/main" id="{2480F491-F856-B241-68E8-B886C44E8963}"/>
              </a:ext>
            </a:extLst>
          </p:cNvPr>
          <p:cNvSpPr/>
          <p:nvPr/>
        </p:nvSpPr>
        <p:spPr>
          <a:xfrm>
            <a:off x="6537960" y="2944368"/>
            <a:ext cx="192024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4DA64AC-3E41-6464-2D10-C985C6249C09}"/>
              </a:ext>
            </a:extLst>
          </p:cNvPr>
          <p:cNvSpPr txBox="1"/>
          <p:nvPr/>
        </p:nvSpPr>
        <p:spPr>
          <a:xfrm>
            <a:off x="6611112" y="2980944"/>
            <a:ext cx="316112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Yes</a:t>
            </a:r>
          </a:p>
        </p:txBody>
      </p:sp>
      <p:sp>
        <p:nvSpPr>
          <p:cNvPr id="66" name="Rounded Rectangle 213">
            <a:extLst>
              <a:ext uri="{FF2B5EF4-FFF2-40B4-BE49-F238E27FC236}">
                <a16:creationId xmlns:a16="http://schemas.microsoft.com/office/drawing/2014/main" id="{53A5092E-33F6-04CC-CEF5-D53F4EC39924}"/>
              </a:ext>
            </a:extLst>
          </p:cNvPr>
          <p:cNvSpPr/>
          <p:nvPr/>
        </p:nvSpPr>
        <p:spPr>
          <a:xfrm>
            <a:off x="8503920" y="2944368"/>
            <a:ext cx="333756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2CD1A55-F911-3295-8D37-C89AD55F6D46}"/>
              </a:ext>
            </a:extLst>
          </p:cNvPr>
          <p:cNvSpPr txBox="1"/>
          <p:nvPr/>
        </p:nvSpPr>
        <p:spPr>
          <a:xfrm>
            <a:off x="8577072" y="2980944"/>
            <a:ext cx="1863011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Not currently available to Nigerian residents</a:t>
            </a:r>
          </a:p>
        </p:txBody>
      </p:sp>
      <p:sp>
        <p:nvSpPr>
          <p:cNvPr id="68" name="Rounded Rectangle 215">
            <a:extLst>
              <a:ext uri="{FF2B5EF4-FFF2-40B4-BE49-F238E27FC236}">
                <a16:creationId xmlns:a16="http://schemas.microsoft.com/office/drawing/2014/main" id="{3F4AA10B-C49C-E4AC-4A6F-9F84B2516E53}"/>
              </a:ext>
            </a:extLst>
          </p:cNvPr>
          <p:cNvSpPr/>
          <p:nvPr/>
        </p:nvSpPr>
        <p:spPr>
          <a:xfrm>
            <a:off x="320040" y="3305556"/>
            <a:ext cx="224028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1EC982B-8E3E-59F8-E40F-8A9E716D2DF4}"/>
              </a:ext>
            </a:extLst>
          </p:cNvPr>
          <p:cNvSpPr txBox="1"/>
          <p:nvPr/>
        </p:nvSpPr>
        <p:spPr>
          <a:xfrm>
            <a:off x="393192" y="3342132"/>
            <a:ext cx="1074333" cy="206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40" b="0">
                <a:solidFill>
                  <a:srgbClr val="26303C"/>
                </a:solidFill>
              </a:defRPr>
            </a:pPr>
            <a:r>
              <a:rPr b="1" dirty="0"/>
              <a:t>USD card for Nigerians</a:t>
            </a:r>
          </a:p>
        </p:txBody>
      </p:sp>
      <p:sp>
        <p:nvSpPr>
          <p:cNvPr id="70" name="Rounded Rectangle 217">
            <a:extLst>
              <a:ext uri="{FF2B5EF4-FFF2-40B4-BE49-F238E27FC236}">
                <a16:creationId xmlns:a16="http://schemas.microsoft.com/office/drawing/2014/main" id="{E2B68CAA-60EF-1B39-D5B1-8088934ABE2A}"/>
              </a:ext>
            </a:extLst>
          </p:cNvPr>
          <p:cNvSpPr/>
          <p:nvPr/>
        </p:nvSpPr>
        <p:spPr>
          <a:xfrm>
            <a:off x="2606040" y="330555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4A478DC-308F-CA84-C2A6-0523607CC61B}"/>
              </a:ext>
            </a:extLst>
          </p:cNvPr>
          <p:cNvSpPr txBox="1"/>
          <p:nvPr/>
        </p:nvSpPr>
        <p:spPr>
          <a:xfrm>
            <a:off x="2679192" y="3342132"/>
            <a:ext cx="740908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Core proposed</a:t>
            </a:r>
          </a:p>
        </p:txBody>
      </p:sp>
      <p:sp>
        <p:nvSpPr>
          <p:cNvPr id="72" name="Rounded Rectangle 219">
            <a:extLst>
              <a:ext uri="{FF2B5EF4-FFF2-40B4-BE49-F238E27FC236}">
                <a16:creationId xmlns:a16="http://schemas.microsoft.com/office/drawing/2014/main" id="{7D0198B6-1522-EAE9-9F5A-258CEE462AB2}"/>
              </a:ext>
            </a:extLst>
          </p:cNvPr>
          <p:cNvSpPr/>
          <p:nvPr/>
        </p:nvSpPr>
        <p:spPr>
          <a:xfrm>
            <a:off x="4572000" y="330555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54285F9-25F3-B798-399E-A15B5FCC1877}"/>
              </a:ext>
            </a:extLst>
          </p:cNvPr>
          <p:cNvSpPr txBox="1"/>
          <p:nvPr/>
        </p:nvSpPr>
        <p:spPr>
          <a:xfrm>
            <a:off x="4645152" y="3342132"/>
            <a:ext cx="513282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Not core</a:t>
            </a:r>
          </a:p>
        </p:txBody>
      </p:sp>
      <p:sp>
        <p:nvSpPr>
          <p:cNvPr id="74" name="Rounded Rectangle 221">
            <a:extLst>
              <a:ext uri="{FF2B5EF4-FFF2-40B4-BE49-F238E27FC236}">
                <a16:creationId xmlns:a16="http://schemas.microsoft.com/office/drawing/2014/main" id="{460938DB-F01C-CD4C-7891-82E754F0B3A6}"/>
              </a:ext>
            </a:extLst>
          </p:cNvPr>
          <p:cNvSpPr/>
          <p:nvPr/>
        </p:nvSpPr>
        <p:spPr>
          <a:xfrm>
            <a:off x="6537960" y="330555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D6BEABF-5DD0-F467-F8DE-7303302AE688}"/>
              </a:ext>
            </a:extLst>
          </p:cNvPr>
          <p:cNvSpPr txBox="1"/>
          <p:nvPr/>
        </p:nvSpPr>
        <p:spPr>
          <a:xfrm>
            <a:off x="6611112" y="3342132"/>
            <a:ext cx="316112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Yes</a:t>
            </a:r>
          </a:p>
        </p:txBody>
      </p:sp>
      <p:sp>
        <p:nvSpPr>
          <p:cNvPr id="76" name="Rounded Rectangle 223">
            <a:extLst>
              <a:ext uri="{FF2B5EF4-FFF2-40B4-BE49-F238E27FC236}">
                <a16:creationId xmlns:a16="http://schemas.microsoft.com/office/drawing/2014/main" id="{7E2F4A13-C6D9-E57F-9B60-977E0933A5BE}"/>
              </a:ext>
            </a:extLst>
          </p:cNvPr>
          <p:cNvSpPr/>
          <p:nvPr/>
        </p:nvSpPr>
        <p:spPr>
          <a:xfrm>
            <a:off x="8503920" y="3305556"/>
            <a:ext cx="333756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F52B459-6F9E-B587-79B3-A67BA3D9A2E7}"/>
              </a:ext>
            </a:extLst>
          </p:cNvPr>
          <p:cNvSpPr txBox="1"/>
          <p:nvPr/>
        </p:nvSpPr>
        <p:spPr>
          <a:xfrm>
            <a:off x="8577072" y="3342132"/>
            <a:ext cx="1050288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Not currently available</a:t>
            </a:r>
          </a:p>
        </p:txBody>
      </p:sp>
      <p:sp>
        <p:nvSpPr>
          <p:cNvPr id="78" name="Rounded Rectangle 225">
            <a:extLst>
              <a:ext uri="{FF2B5EF4-FFF2-40B4-BE49-F238E27FC236}">
                <a16:creationId xmlns:a16="http://schemas.microsoft.com/office/drawing/2014/main" id="{E5A31DA1-B6D0-AD89-9574-08CF946D2ADD}"/>
              </a:ext>
            </a:extLst>
          </p:cNvPr>
          <p:cNvSpPr/>
          <p:nvPr/>
        </p:nvSpPr>
        <p:spPr>
          <a:xfrm>
            <a:off x="320040" y="3602736"/>
            <a:ext cx="224028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074B3CC-7685-CAB0-9949-6E6A45345509}"/>
              </a:ext>
            </a:extLst>
          </p:cNvPr>
          <p:cNvSpPr txBox="1"/>
          <p:nvPr/>
        </p:nvSpPr>
        <p:spPr>
          <a:xfrm>
            <a:off x="393192" y="3639312"/>
            <a:ext cx="1080745" cy="206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40" b="0">
                <a:solidFill>
                  <a:srgbClr val="26303C"/>
                </a:solidFill>
              </a:defRPr>
            </a:pPr>
            <a:r>
              <a:rPr b="1"/>
              <a:t>International transfers</a:t>
            </a:r>
          </a:p>
        </p:txBody>
      </p:sp>
      <p:sp>
        <p:nvSpPr>
          <p:cNvPr id="80" name="Rounded Rectangle 227">
            <a:extLst>
              <a:ext uri="{FF2B5EF4-FFF2-40B4-BE49-F238E27FC236}">
                <a16:creationId xmlns:a16="http://schemas.microsoft.com/office/drawing/2014/main" id="{7A45FAAE-1A3C-1E65-80F9-5FDD5A1A72F7}"/>
              </a:ext>
            </a:extLst>
          </p:cNvPr>
          <p:cNvSpPr/>
          <p:nvPr/>
        </p:nvSpPr>
        <p:spPr>
          <a:xfrm>
            <a:off x="2606040" y="360273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0FBA5A6-A33F-B0FB-C929-C4944F4A0BFB}"/>
              </a:ext>
            </a:extLst>
          </p:cNvPr>
          <p:cNvSpPr txBox="1"/>
          <p:nvPr/>
        </p:nvSpPr>
        <p:spPr>
          <a:xfrm>
            <a:off x="2679192" y="3639312"/>
            <a:ext cx="740908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 dirty="0"/>
              <a:t>Core proposed</a:t>
            </a:r>
          </a:p>
        </p:txBody>
      </p:sp>
      <p:sp>
        <p:nvSpPr>
          <p:cNvPr id="82" name="Rounded Rectangle 229">
            <a:extLst>
              <a:ext uri="{FF2B5EF4-FFF2-40B4-BE49-F238E27FC236}">
                <a16:creationId xmlns:a16="http://schemas.microsoft.com/office/drawing/2014/main" id="{20049D90-3AE3-87DB-3B95-F5BAF00956FA}"/>
              </a:ext>
            </a:extLst>
          </p:cNvPr>
          <p:cNvSpPr/>
          <p:nvPr/>
        </p:nvSpPr>
        <p:spPr>
          <a:xfrm>
            <a:off x="4572000" y="360273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0A1EF90-1AEA-E34E-A5D4-178BBED391BA}"/>
              </a:ext>
            </a:extLst>
          </p:cNvPr>
          <p:cNvSpPr txBox="1"/>
          <p:nvPr/>
        </p:nvSpPr>
        <p:spPr>
          <a:xfrm>
            <a:off x="4645152" y="3639312"/>
            <a:ext cx="978153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Limited vs specialists</a:t>
            </a:r>
          </a:p>
        </p:txBody>
      </p:sp>
      <p:sp>
        <p:nvSpPr>
          <p:cNvPr id="84" name="Rounded Rectangle 231">
            <a:extLst>
              <a:ext uri="{FF2B5EF4-FFF2-40B4-BE49-F238E27FC236}">
                <a16:creationId xmlns:a16="http://schemas.microsoft.com/office/drawing/2014/main" id="{DC11DD8C-BFF8-65F5-99EC-579272DBD296}"/>
              </a:ext>
            </a:extLst>
          </p:cNvPr>
          <p:cNvSpPr/>
          <p:nvPr/>
        </p:nvSpPr>
        <p:spPr>
          <a:xfrm>
            <a:off x="6537960" y="360273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6F7ED9F-A0EA-80E0-E185-9960E63FF0BD}"/>
              </a:ext>
            </a:extLst>
          </p:cNvPr>
          <p:cNvSpPr txBox="1"/>
          <p:nvPr/>
        </p:nvSpPr>
        <p:spPr>
          <a:xfrm>
            <a:off x="6611112" y="3639312"/>
            <a:ext cx="433132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Strong</a:t>
            </a:r>
          </a:p>
        </p:txBody>
      </p:sp>
      <p:sp>
        <p:nvSpPr>
          <p:cNvPr id="86" name="Rounded Rectangle 233">
            <a:extLst>
              <a:ext uri="{FF2B5EF4-FFF2-40B4-BE49-F238E27FC236}">
                <a16:creationId xmlns:a16="http://schemas.microsoft.com/office/drawing/2014/main" id="{78C48C5F-B05D-E884-2A50-DD0CD3A8D39C}"/>
              </a:ext>
            </a:extLst>
          </p:cNvPr>
          <p:cNvSpPr/>
          <p:nvPr/>
        </p:nvSpPr>
        <p:spPr>
          <a:xfrm>
            <a:off x="8503920" y="3602736"/>
            <a:ext cx="333756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6C290F3-0809-3786-C006-0F381D17136B}"/>
              </a:ext>
            </a:extLst>
          </p:cNvPr>
          <p:cNvSpPr txBox="1"/>
          <p:nvPr/>
        </p:nvSpPr>
        <p:spPr>
          <a:xfrm>
            <a:off x="8577072" y="3639312"/>
            <a:ext cx="623889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Very strong</a:t>
            </a:r>
          </a:p>
        </p:txBody>
      </p:sp>
      <p:sp>
        <p:nvSpPr>
          <p:cNvPr id="88" name="Rounded Rectangle 235">
            <a:extLst>
              <a:ext uri="{FF2B5EF4-FFF2-40B4-BE49-F238E27FC236}">
                <a16:creationId xmlns:a16="http://schemas.microsoft.com/office/drawing/2014/main" id="{70AE13AD-72AB-B8AA-6FDC-F8E3FF1659C5}"/>
              </a:ext>
            </a:extLst>
          </p:cNvPr>
          <p:cNvSpPr/>
          <p:nvPr/>
        </p:nvSpPr>
        <p:spPr>
          <a:xfrm>
            <a:off x="320040" y="3899916"/>
            <a:ext cx="224028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6ED28BB-EF5A-4FC9-45A0-4C31BB77845C}"/>
              </a:ext>
            </a:extLst>
          </p:cNvPr>
          <p:cNvSpPr txBox="1"/>
          <p:nvPr/>
        </p:nvSpPr>
        <p:spPr>
          <a:xfrm>
            <a:off x="393192" y="3936492"/>
            <a:ext cx="721672" cy="206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40" b="0">
                <a:solidFill>
                  <a:srgbClr val="26303C"/>
                </a:solidFill>
              </a:defRPr>
            </a:pPr>
            <a:r>
              <a:rPr b="1"/>
              <a:t>Bill payments</a:t>
            </a:r>
          </a:p>
        </p:txBody>
      </p:sp>
      <p:sp>
        <p:nvSpPr>
          <p:cNvPr id="90" name="Rounded Rectangle 237">
            <a:extLst>
              <a:ext uri="{FF2B5EF4-FFF2-40B4-BE49-F238E27FC236}">
                <a16:creationId xmlns:a16="http://schemas.microsoft.com/office/drawing/2014/main" id="{D5239CB8-B79E-1459-90BE-26682E506202}"/>
              </a:ext>
            </a:extLst>
          </p:cNvPr>
          <p:cNvSpPr/>
          <p:nvPr/>
        </p:nvSpPr>
        <p:spPr>
          <a:xfrm>
            <a:off x="2606040" y="389991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6407F65-6BB0-6A5B-A691-6B9E2D535D42}"/>
              </a:ext>
            </a:extLst>
          </p:cNvPr>
          <p:cNvSpPr txBox="1"/>
          <p:nvPr/>
        </p:nvSpPr>
        <p:spPr>
          <a:xfrm>
            <a:off x="2679192" y="3936492"/>
            <a:ext cx="740908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Core proposed</a:t>
            </a:r>
          </a:p>
        </p:txBody>
      </p:sp>
      <p:sp>
        <p:nvSpPr>
          <p:cNvPr id="92" name="Rounded Rectangle 239">
            <a:extLst>
              <a:ext uri="{FF2B5EF4-FFF2-40B4-BE49-F238E27FC236}">
                <a16:creationId xmlns:a16="http://schemas.microsoft.com/office/drawing/2014/main" id="{726854D1-0649-A4B8-BDF6-2739E1F82A5F}"/>
              </a:ext>
            </a:extLst>
          </p:cNvPr>
          <p:cNvSpPr/>
          <p:nvPr/>
        </p:nvSpPr>
        <p:spPr>
          <a:xfrm>
            <a:off x="4572000" y="389991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F97F396-C886-B2B0-95A4-426F7FD3D11D}"/>
              </a:ext>
            </a:extLst>
          </p:cNvPr>
          <p:cNvSpPr txBox="1"/>
          <p:nvPr/>
        </p:nvSpPr>
        <p:spPr>
          <a:xfrm>
            <a:off x="4645152" y="3936492"/>
            <a:ext cx="433132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Strong</a:t>
            </a:r>
          </a:p>
        </p:txBody>
      </p:sp>
      <p:sp>
        <p:nvSpPr>
          <p:cNvPr id="94" name="Rounded Rectangle 241">
            <a:extLst>
              <a:ext uri="{FF2B5EF4-FFF2-40B4-BE49-F238E27FC236}">
                <a16:creationId xmlns:a16="http://schemas.microsoft.com/office/drawing/2014/main" id="{FE87112C-3CD3-0139-3A8B-3AB46D96A105}"/>
              </a:ext>
            </a:extLst>
          </p:cNvPr>
          <p:cNvSpPr/>
          <p:nvPr/>
        </p:nvSpPr>
        <p:spPr>
          <a:xfrm>
            <a:off x="6537960" y="389991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F83698D-8DBF-B11C-1E5E-F55242BD80AD}"/>
              </a:ext>
            </a:extLst>
          </p:cNvPr>
          <p:cNvSpPr txBox="1"/>
          <p:nvPr/>
        </p:nvSpPr>
        <p:spPr>
          <a:xfrm>
            <a:off x="6611112" y="3936492"/>
            <a:ext cx="1045479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Available, but not core</a:t>
            </a:r>
          </a:p>
        </p:txBody>
      </p:sp>
      <p:sp>
        <p:nvSpPr>
          <p:cNvPr id="96" name="Rounded Rectangle 243">
            <a:extLst>
              <a:ext uri="{FF2B5EF4-FFF2-40B4-BE49-F238E27FC236}">
                <a16:creationId xmlns:a16="http://schemas.microsoft.com/office/drawing/2014/main" id="{5E781EF8-E20A-E116-C7C9-6368556EFA22}"/>
              </a:ext>
            </a:extLst>
          </p:cNvPr>
          <p:cNvSpPr/>
          <p:nvPr/>
        </p:nvSpPr>
        <p:spPr>
          <a:xfrm>
            <a:off x="8503032" y="3945637"/>
            <a:ext cx="333756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BD5173B-38DC-BA5C-9CD9-41446CD9D198}"/>
              </a:ext>
            </a:extLst>
          </p:cNvPr>
          <p:cNvSpPr txBox="1"/>
          <p:nvPr/>
        </p:nvSpPr>
        <p:spPr>
          <a:xfrm>
            <a:off x="8577072" y="3936492"/>
            <a:ext cx="1039067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Not a core proposition</a:t>
            </a:r>
          </a:p>
        </p:txBody>
      </p:sp>
      <p:sp>
        <p:nvSpPr>
          <p:cNvPr id="98" name="Rounded Rectangle 245">
            <a:extLst>
              <a:ext uri="{FF2B5EF4-FFF2-40B4-BE49-F238E27FC236}">
                <a16:creationId xmlns:a16="http://schemas.microsoft.com/office/drawing/2014/main" id="{25B32B2A-1ED7-EABC-CA92-1DF35ADDCA71}"/>
              </a:ext>
            </a:extLst>
          </p:cNvPr>
          <p:cNvSpPr/>
          <p:nvPr/>
        </p:nvSpPr>
        <p:spPr>
          <a:xfrm>
            <a:off x="320040" y="4197096"/>
            <a:ext cx="224028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BE1A595-6667-9110-7549-C67543B82993}"/>
              </a:ext>
            </a:extLst>
          </p:cNvPr>
          <p:cNvSpPr txBox="1"/>
          <p:nvPr/>
        </p:nvSpPr>
        <p:spPr>
          <a:xfrm>
            <a:off x="393192" y="4233672"/>
            <a:ext cx="280846" cy="206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40" b="0">
                <a:solidFill>
                  <a:srgbClr val="26303C"/>
                </a:solidFill>
              </a:defRPr>
            </a:pPr>
            <a:r>
              <a:rPr b="1"/>
              <a:t>FX</a:t>
            </a:r>
          </a:p>
        </p:txBody>
      </p:sp>
      <p:sp>
        <p:nvSpPr>
          <p:cNvPr id="100" name="Rounded Rectangle 247">
            <a:extLst>
              <a:ext uri="{FF2B5EF4-FFF2-40B4-BE49-F238E27FC236}">
                <a16:creationId xmlns:a16="http://schemas.microsoft.com/office/drawing/2014/main" id="{13F9BF1C-B5B3-4A11-031B-5B65F266A9BE}"/>
              </a:ext>
            </a:extLst>
          </p:cNvPr>
          <p:cNvSpPr/>
          <p:nvPr/>
        </p:nvSpPr>
        <p:spPr>
          <a:xfrm>
            <a:off x="2606040" y="419709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C5FE4F8-3BF7-D51E-CBDA-4773E80F0832}"/>
              </a:ext>
            </a:extLst>
          </p:cNvPr>
          <p:cNvSpPr txBox="1"/>
          <p:nvPr/>
        </p:nvSpPr>
        <p:spPr>
          <a:xfrm>
            <a:off x="2679192" y="4233672"/>
            <a:ext cx="1055097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Strategic differentiator</a:t>
            </a:r>
          </a:p>
        </p:txBody>
      </p:sp>
      <p:sp>
        <p:nvSpPr>
          <p:cNvPr id="102" name="Rounded Rectangle 249">
            <a:extLst>
              <a:ext uri="{FF2B5EF4-FFF2-40B4-BE49-F238E27FC236}">
                <a16:creationId xmlns:a16="http://schemas.microsoft.com/office/drawing/2014/main" id="{988662B8-31F7-0827-A239-B0C102C2C800}"/>
              </a:ext>
            </a:extLst>
          </p:cNvPr>
          <p:cNvSpPr/>
          <p:nvPr/>
        </p:nvSpPr>
        <p:spPr>
          <a:xfrm>
            <a:off x="4572000" y="419709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0924275-8A1F-21ED-6432-3D0C8CD8FE13}"/>
              </a:ext>
            </a:extLst>
          </p:cNvPr>
          <p:cNvSpPr txBox="1"/>
          <p:nvPr/>
        </p:nvSpPr>
        <p:spPr>
          <a:xfrm>
            <a:off x="4645152" y="4233672"/>
            <a:ext cx="1244251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Not a primary differentiator</a:t>
            </a:r>
          </a:p>
        </p:txBody>
      </p:sp>
      <p:sp>
        <p:nvSpPr>
          <p:cNvPr id="104" name="Rounded Rectangle 251">
            <a:extLst>
              <a:ext uri="{FF2B5EF4-FFF2-40B4-BE49-F238E27FC236}">
                <a16:creationId xmlns:a16="http://schemas.microsoft.com/office/drawing/2014/main" id="{9BEB1951-82D1-04EE-9178-EBD91AEFDC4A}"/>
              </a:ext>
            </a:extLst>
          </p:cNvPr>
          <p:cNvSpPr/>
          <p:nvPr/>
        </p:nvSpPr>
        <p:spPr>
          <a:xfrm>
            <a:off x="6537960" y="419709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56A4544-03E7-F08D-27AE-3D6B52437CD4}"/>
              </a:ext>
            </a:extLst>
          </p:cNvPr>
          <p:cNvSpPr txBox="1"/>
          <p:nvPr/>
        </p:nvSpPr>
        <p:spPr>
          <a:xfrm>
            <a:off x="6611112" y="4233672"/>
            <a:ext cx="660758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Core feature</a:t>
            </a:r>
          </a:p>
        </p:txBody>
      </p:sp>
      <p:sp>
        <p:nvSpPr>
          <p:cNvPr id="106" name="Rounded Rectangle 253">
            <a:extLst>
              <a:ext uri="{FF2B5EF4-FFF2-40B4-BE49-F238E27FC236}">
                <a16:creationId xmlns:a16="http://schemas.microsoft.com/office/drawing/2014/main" id="{BC5A8850-3054-A885-4BDA-6E7455280ED8}"/>
              </a:ext>
            </a:extLst>
          </p:cNvPr>
          <p:cNvSpPr/>
          <p:nvPr/>
        </p:nvSpPr>
        <p:spPr>
          <a:xfrm>
            <a:off x="8503920" y="4197096"/>
            <a:ext cx="333756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FC58883-1715-0A7F-371A-306473F4ED34}"/>
              </a:ext>
            </a:extLst>
          </p:cNvPr>
          <p:cNvSpPr txBox="1"/>
          <p:nvPr/>
        </p:nvSpPr>
        <p:spPr>
          <a:xfrm>
            <a:off x="8577072" y="4233672"/>
            <a:ext cx="660758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Core feature</a:t>
            </a:r>
          </a:p>
        </p:txBody>
      </p:sp>
      <p:sp>
        <p:nvSpPr>
          <p:cNvPr id="108" name="Rounded Rectangle 255">
            <a:extLst>
              <a:ext uri="{FF2B5EF4-FFF2-40B4-BE49-F238E27FC236}">
                <a16:creationId xmlns:a16="http://schemas.microsoft.com/office/drawing/2014/main" id="{F318D4C1-9682-B4BE-89B5-4FD4835D1993}"/>
              </a:ext>
            </a:extLst>
          </p:cNvPr>
          <p:cNvSpPr/>
          <p:nvPr/>
        </p:nvSpPr>
        <p:spPr>
          <a:xfrm>
            <a:off x="320040" y="4494276"/>
            <a:ext cx="224028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4841610-8B54-7F89-DB87-2E0F44F6768A}"/>
              </a:ext>
            </a:extLst>
          </p:cNvPr>
          <p:cNvSpPr txBox="1"/>
          <p:nvPr/>
        </p:nvSpPr>
        <p:spPr>
          <a:xfrm>
            <a:off x="393192" y="4530852"/>
            <a:ext cx="864339" cy="206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40" b="0">
                <a:solidFill>
                  <a:srgbClr val="26303C"/>
                </a:solidFill>
              </a:defRPr>
            </a:pPr>
            <a:r>
              <a:rPr b="1"/>
              <a:t>Fee transparency</a:t>
            </a:r>
          </a:p>
        </p:txBody>
      </p:sp>
      <p:sp>
        <p:nvSpPr>
          <p:cNvPr id="110" name="Rounded Rectangle 257">
            <a:extLst>
              <a:ext uri="{FF2B5EF4-FFF2-40B4-BE49-F238E27FC236}">
                <a16:creationId xmlns:a16="http://schemas.microsoft.com/office/drawing/2014/main" id="{7C3D8694-BF17-C333-6B2B-614DE2AA726E}"/>
              </a:ext>
            </a:extLst>
          </p:cNvPr>
          <p:cNvSpPr/>
          <p:nvPr/>
        </p:nvSpPr>
        <p:spPr>
          <a:xfrm>
            <a:off x="2606040" y="449427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20072CC-D0D7-4CA7-A9CD-1E036446B904}"/>
              </a:ext>
            </a:extLst>
          </p:cNvPr>
          <p:cNvSpPr txBox="1"/>
          <p:nvPr/>
        </p:nvSpPr>
        <p:spPr>
          <a:xfrm>
            <a:off x="2679192" y="4530852"/>
            <a:ext cx="1055097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Strategic differentiator</a:t>
            </a:r>
          </a:p>
        </p:txBody>
      </p:sp>
      <p:sp>
        <p:nvSpPr>
          <p:cNvPr id="112" name="Rounded Rectangle 259">
            <a:extLst>
              <a:ext uri="{FF2B5EF4-FFF2-40B4-BE49-F238E27FC236}">
                <a16:creationId xmlns:a16="http://schemas.microsoft.com/office/drawing/2014/main" id="{A98D0F31-39EA-4185-3415-5609442EC366}"/>
              </a:ext>
            </a:extLst>
          </p:cNvPr>
          <p:cNvSpPr/>
          <p:nvPr/>
        </p:nvSpPr>
        <p:spPr>
          <a:xfrm>
            <a:off x="4572000" y="449427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A939FB8-855D-78BE-E647-B7190F4E8A0F}"/>
              </a:ext>
            </a:extLst>
          </p:cNvPr>
          <p:cNvSpPr txBox="1"/>
          <p:nvPr/>
        </p:nvSpPr>
        <p:spPr>
          <a:xfrm>
            <a:off x="4645152" y="4530852"/>
            <a:ext cx="1507144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Requires direct current verification</a:t>
            </a:r>
          </a:p>
        </p:txBody>
      </p:sp>
      <p:sp>
        <p:nvSpPr>
          <p:cNvPr id="114" name="Rounded Rectangle 261">
            <a:extLst>
              <a:ext uri="{FF2B5EF4-FFF2-40B4-BE49-F238E27FC236}">
                <a16:creationId xmlns:a16="http://schemas.microsoft.com/office/drawing/2014/main" id="{D8989700-ECC1-57EF-02A6-71AA82C31E10}"/>
              </a:ext>
            </a:extLst>
          </p:cNvPr>
          <p:cNvSpPr/>
          <p:nvPr/>
        </p:nvSpPr>
        <p:spPr>
          <a:xfrm>
            <a:off x="6537960" y="449427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E5288DC-0C0F-33DC-B6F6-7EB079C4D284}"/>
              </a:ext>
            </a:extLst>
          </p:cNvPr>
          <p:cNvSpPr txBox="1"/>
          <p:nvPr/>
        </p:nvSpPr>
        <p:spPr>
          <a:xfrm>
            <a:off x="6611112" y="4530852"/>
            <a:ext cx="1183337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Strong published evidence</a:t>
            </a:r>
          </a:p>
        </p:txBody>
      </p:sp>
      <p:sp>
        <p:nvSpPr>
          <p:cNvPr id="116" name="Rounded Rectangle 263">
            <a:extLst>
              <a:ext uri="{FF2B5EF4-FFF2-40B4-BE49-F238E27FC236}">
                <a16:creationId xmlns:a16="http://schemas.microsoft.com/office/drawing/2014/main" id="{CF960574-D846-3570-FA72-C2EEE6007D77}"/>
              </a:ext>
            </a:extLst>
          </p:cNvPr>
          <p:cNvSpPr/>
          <p:nvPr/>
        </p:nvSpPr>
        <p:spPr>
          <a:xfrm>
            <a:off x="8503920" y="4494276"/>
            <a:ext cx="333756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C4E243A-5815-127A-F7B6-18BCC88A99FD}"/>
              </a:ext>
            </a:extLst>
          </p:cNvPr>
          <p:cNvSpPr txBox="1"/>
          <p:nvPr/>
        </p:nvSpPr>
        <p:spPr>
          <a:xfrm>
            <a:off x="8577072" y="4530852"/>
            <a:ext cx="623889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Very strong</a:t>
            </a:r>
          </a:p>
        </p:txBody>
      </p:sp>
      <p:sp>
        <p:nvSpPr>
          <p:cNvPr id="118" name="Rounded Rectangle 265">
            <a:extLst>
              <a:ext uri="{FF2B5EF4-FFF2-40B4-BE49-F238E27FC236}">
                <a16:creationId xmlns:a16="http://schemas.microsoft.com/office/drawing/2014/main" id="{1B8BCD19-4074-294D-00A0-3D1BD4891C79}"/>
              </a:ext>
            </a:extLst>
          </p:cNvPr>
          <p:cNvSpPr/>
          <p:nvPr/>
        </p:nvSpPr>
        <p:spPr>
          <a:xfrm>
            <a:off x="320040" y="4791456"/>
            <a:ext cx="224028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9AF8847-10A6-C5B8-B00A-7677EB751B03}"/>
              </a:ext>
            </a:extLst>
          </p:cNvPr>
          <p:cNvSpPr txBox="1"/>
          <p:nvPr/>
        </p:nvSpPr>
        <p:spPr>
          <a:xfrm>
            <a:off x="393192" y="4828032"/>
            <a:ext cx="821059" cy="206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40" b="0">
                <a:solidFill>
                  <a:srgbClr val="26303C"/>
                </a:solidFill>
              </a:defRPr>
            </a:pPr>
            <a:r>
              <a:rPr b="1"/>
              <a:t>FX transparency</a:t>
            </a:r>
          </a:p>
        </p:txBody>
      </p:sp>
      <p:sp>
        <p:nvSpPr>
          <p:cNvPr id="120" name="Rounded Rectangle 267">
            <a:extLst>
              <a:ext uri="{FF2B5EF4-FFF2-40B4-BE49-F238E27FC236}">
                <a16:creationId xmlns:a16="http://schemas.microsoft.com/office/drawing/2014/main" id="{042BF3FD-0735-5DDD-CCB3-5279B5FC1A8D}"/>
              </a:ext>
            </a:extLst>
          </p:cNvPr>
          <p:cNvSpPr/>
          <p:nvPr/>
        </p:nvSpPr>
        <p:spPr>
          <a:xfrm>
            <a:off x="2606040" y="479145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0E01C07-0871-1AAD-804A-2A72D416C028}"/>
              </a:ext>
            </a:extLst>
          </p:cNvPr>
          <p:cNvSpPr txBox="1"/>
          <p:nvPr/>
        </p:nvSpPr>
        <p:spPr>
          <a:xfrm>
            <a:off x="2679192" y="4828032"/>
            <a:ext cx="1055097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Strategic differentiator</a:t>
            </a:r>
          </a:p>
        </p:txBody>
      </p:sp>
      <p:sp>
        <p:nvSpPr>
          <p:cNvPr id="122" name="Rounded Rectangle 269">
            <a:extLst>
              <a:ext uri="{FF2B5EF4-FFF2-40B4-BE49-F238E27FC236}">
                <a16:creationId xmlns:a16="http://schemas.microsoft.com/office/drawing/2014/main" id="{DAF37BF8-6D7C-65F2-CC05-EF52C8FCC31D}"/>
              </a:ext>
            </a:extLst>
          </p:cNvPr>
          <p:cNvSpPr/>
          <p:nvPr/>
        </p:nvSpPr>
        <p:spPr>
          <a:xfrm>
            <a:off x="4572000" y="479145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294BB65-8F57-4AD1-FFDE-8B7405953C2C}"/>
              </a:ext>
            </a:extLst>
          </p:cNvPr>
          <p:cNvSpPr txBox="1"/>
          <p:nvPr/>
        </p:nvSpPr>
        <p:spPr>
          <a:xfrm>
            <a:off x="4645152" y="4828032"/>
            <a:ext cx="1507144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Requires direct current verification</a:t>
            </a:r>
          </a:p>
        </p:txBody>
      </p:sp>
      <p:sp>
        <p:nvSpPr>
          <p:cNvPr id="124" name="Rounded Rectangle 271">
            <a:extLst>
              <a:ext uri="{FF2B5EF4-FFF2-40B4-BE49-F238E27FC236}">
                <a16:creationId xmlns:a16="http://schemas.microsoft.com/office/drawing/2014/main" id="{DD1688B8-E457-4A31-E086-B519C5F6DA1F}"/>
              </a:ext>
            </a:extLst>
          </p:cNvPr>
          <p:cNvSpPr/>
          <p:nvPr/>
        </p:nvSpPr>
        <p:spPr>
          <a:xfrm>
            <a:off x="6537960" y="479145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15B32FA-2E9A-D447-2516-B11159AB8882}"/>
              </a:ext>
            </a:extLst>
          </p:cNvPr>
          <p:cNvSpPr txBox="1"/>
          <p:nvPr/>
        </p:nvSpPr>
        <p:spPr>
          <a:xfrm>
            <a:off x="6611112" y="4828032"/>
            <a:ext cx="1499128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Published conversion-fee evidence</a:t>
            </a:r>
          </a:p>
        </p:txBody>
      </p:sp>
      <p:sp>
        <p:nvSpPr>
          <p:cNvPr id="126" name="Rounded Rectangle 273">
            <a:extLst>
              <a:ext uri="{FF2B5EF4-FFF2-40B4-BE49-F238E27FC236}">
                <a16:creationId xmlns:a16="http://schemas.microsoft.com/office/drawing/2014/main" id="{6C310EF2-5688-BBCE-1119-872E1F6D129E}"/>
              </a:ext>
            </a:extLst>
          </p:cNvPr>
          <p:cNvSpPr/>
          <p:nvPr/>
        </p:nvSpPr>
        <p:spPr>
          <a:xfrm>
            <a:off x="8503920" y="4791456"/>
            <a:ext cx="333756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7201B0C-0577-FA45-837E-719238CE8E9C}"/>
              </a:ext>
            </a:extLst>
          </p:cNvPr>
          <p:cNvSpPr txBox="1"/>
          <p:nvPr/>
        </p:nvSpPr>
        <p:spPr>
          <a:xfrm>
            <a:off x="8577072" y="4828032"/>
            <a:ext cx="623889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Very strong</a:t>
            </a:r>
          </a:p>
        </p:txBody>
      </p:sp>
      <p:sp>
        <p:nvSpPr>
          <p:cNvPr id="128" name="Rounded Rectangle 275">
            <a:extLst>
              <a:ext uri="{FF2B5EF4-FFF2-40B4-BE49-F238E27FC236}">
                <a16:creationId xmlns:a16="http://schemas.microsoft.com/office/drawing/2014/main" id="{A0962C6F-94A4-D6BE-C798-D9D9BBBA754A}"/>
              </a:ext>
            </a:extLst>
          </p:cNvPr>
          <p:cNvSpPr/>
          <p:nvPr/>
        </p:nvSpPr>
        <p:spPr>
          <a:xfrm>
            <a:off x="320040" y="5088636"/>
            <a:ext cx="224028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8C174A9-0FE7-7A33-BD2B-986B95A87E67}"/>
              </a:ext>
            </a:extLst>
          </p:cNvPr>
          <p:cNvSpPr txBox="1"/>
          <p:nvPr/>
        </p:nvSpPr>
        <p:spPr>
          <a:xfrm>
            <a:off x="393192" y="5125212"/>
            <a:ext cx="607859" cy="206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40" b="0">
                <a:solidFill>
                  <a:srgbClr val="26303C"/>
                </a:solidFill>
              </a:defRPr>
            </a:pPr>
            <a:r>
              <a:rPr b="1"/>
              <a:t>Tiered KYC</a:t>
            </a:r>
          </a:p>
        </p:txBody>
      </p:sp>
      <p:sp>
        <p:nvSpPr>
          <p:cNvPr id="130" name="Rounded Rectangle 277">
            <a:extLst>
              <a:ext uri="{FF2B5EF4-FFF2-40B4-BE49-F238E27FC236}">
                <a16:creationId xmlns:a16="http://schemas.microsoft.com/office/drawing/2014/main" id="{8692F476-EB57-B1CA-F84E-93F0D97A2C78}"/>
              </a:ext>
            </a:extLst>
          </p:cNvPr>
          <p:cNvSpPr/>
          <p:nvPr/>
        </p:nvSpPr>
        <p:spPr>
          <a:xfrm>
            <a:off x="2606040" y="508863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9077BF1-B0A8-DA94-2AB6-1133C4D5BC10}"/>
              </a:ext>
            </a:extLst>
          </p:cNvPr>
          <p:cNvSpPr txBox="1"/>
          <p:nvPr/>
        </p:nvSpPr>
        <p:spPr>
          <a:xfrm>
            <a:off x="2679192" y="5125212"/>
            <a:ext cx="740908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Core proposed</a:t>
            </a:r>
          </a:p>
        </p:txBody>
      </p:sp>
      <p:sp>
        <p:nvSpPr>
          <p:cNvPr id="132" name="Rounded Rectangle 279">
            <a:extLst>
              <a:ext uri="{FF2B5EF4-FFF2-40B4-BE49-F238E27FC236}">
                <a16:creationId xmlns:a16="http://schemas.microsoft.com/office/drawing/2014/main" id="{59B94373-AF5A-BF1A-0E5C-E45F4802D1E4}"/>
              </a:ext>
            </a:extLst>
          </p:cNvPr>
          <p:cNvSpPr/>
          <p:nvPr/>
        </p:nvSpPr>
        <p:spPr>
          <a:xfrm>
            <a:off x="4572000" y="508863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4924743-D659-BB65-7B14-D33F9BE55A24}"/>
              </a:ext>
            </a:extLst>
          </p:cNvPr>
          <p:cNvSpPr txBox="1"/>
          <p:nvPr/>
        </p:nvSpPr>
        <p:spPr>
          <a:xfrm>
            <a:off x="4645152" y="5125212"/>
            <a:ext cx="1507144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Requires direct current verification</a:t>
            </a:r>
          </a:p>
        </p:txBody>
      </p:sp>
      <p:sp>
        <p:nvSpPr>
          <p:cNvPr id="134" name="Rounded Rectangle 281">
            <a:extLst>
              <a:ext uri="{FF2B5EF4-FFF2-40B4-BE49-F238E27FC236}">
                <a16:creationId xmlns:a16="http://schemas.microsoft.com/office/drawing/2014/main" id="{D5C5DDE6-4B11-CBFE-6B3A-F8797A1D77FD}"/>
              </a:ext>
            </a:extLst>
          </p:cNvPr>
          <p:cNvSpPr/>
          <p:nvPr/>
        </p:nvSpPr>
        <p:spPr>
          <a:xfrm>
            <a:off x="6537960" y="5088636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F57D218-BC93-2C48-C3CB-820AF481B5B1}"/>
              </a:ext>
            </a:extLst>
          </p:cNvPr>
          <p:cNvSpPr txBox="1"/>
          <p:nvPr/>
        </p:nvSpPr>
        <p:spPr>
          <a:xfrm>
            <a:off x="6611112" y="5125212"/>
            <a:ext cx="1112805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Explicit KYC-linked limits</a:t>
            </a:r>
          </a:p>
        </p:txBody>
      </p:sp>
      <p:sp>
        <p:nvSpPr>
          <p:cNvPr id="136" name="Rounded Rectangle 283">
            <a:extLst>
              <a:ext uri="{FF2B5EF4-FFF2-40B4-BE49-F238E27FC236}">
                <a16:creationId xmlns:a16="http://schemas.microsoft.com/office/drawing/2014/main" id="{E928B192-170B-C1CC-3304-0583D59CB320}"/>
              </a:ext>
            </a:extLst>
          </p:cNvPr>
          <p:cNvSpPr/>
          <p:nvPr/>
        </p:nvSpPr>
        <p:spPr>
          <a:xfrm>
            <a:off x="8503920" y="5088636"/>
            <a:ext cx="333756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D18C5C3-7451-ED50-4907-FE13A6251D9A}"/>
              </a:ext>
            </a:extLst>
          </p:cNvPr>
          <p:cNvSpPr txBox="1"/>
          <p:nvPr/>
        </p:nvSpPr>
        <p:spPr>
          <a:xfrm>
            <a:off x="8577072" y="5125212"/>
            <a:ext cx="1231427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Market/product dependent</a:t>
            </a:r>
          </a:p>
        </p:txBody>
      </p:sp>
      <p:sp>
        <p:nvSpPr>
          <p:cNvPr id="138" name="Rounded Rectangle 285">
            <a:extLst>
              <a:ext uri="{FF2B5EF4-FFF2-40B4-BE49-F238E27FC236}">
                <a16:creationId xmlns:a16="http://schemas.microsoft.com/office/drawing/2014/main" id="{57E0C7BE-1A22-97BB-7649-EB681B9278BC}"/>
              </a:ext>
            </a:extLst>
          </p:cNvPr>
          <p:cNvSpPr/>
          <p:nvPr/>
        </p:nvSpPr>
        <p:spPr>
          <a:xfrm>
            <a:off x="320040" y="5385816"/>
            <a:ext cx="224028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D4A6BF6-B473-143A-B8B6-6FC320B81D5E}"/>
              </a:ext>
            </a:extLst>
          </p:cNvPr>
          <p:cNvSpPr txBox="1"/>
          <p:nvPr/>
        </p:nvSpPr>
        <p:spPr>
          <a:xfrm>
            <a:off x="393192" y="5422392"/>
            <a:ext cx="1013419" cy="206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40" b="0">
                <a:solidFill>
                  <a:srgbClr val="26303C"/>
                </a:solidFill>
              </a:defRPr>
            </a:pPr>
            <a:r>
              <a:rPr b="1"/>
              <a:t>Unified local + global</a:t>
            </a:r>
          </a:p>
        </p:txBody>
      </p:sp>
      <p:sp>
        <p:nvSpPr>
          <p:cNvPr id="140" name="Rounded Rectangle 287">
            <a:extLst>
              <a:ext uri="{FF2B5EF4-FFF2-40B4-BE49-F238E27FC236}">
                <a16:creationId xmlns:a16="http://schemas.microsoft.com/office/drawing/2014/main" id="{3DB8E139-A7C0-6A23-1787-5EA28D6DC4FF}"/>
              </a:ext>
            </a:extLst>
          </p:cNvPr>
          <p:cNvSpPr/>
          <p:nvPr/>
        </p:nvSpPr>
        <p:spPr>
          <a:xfrm>
            <a:off x="2606040" y="5385816"/>
            <a:ext cx="192024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2C555D6-F0DC-C2F0-511C-AA93CADD8D3B}"/>
              </a:ext>
            </a:extLst>
          </p:cNvPr>
          <p:cNvSpPr txBox="1"/>
          <p:nvPr/>
        </p:nvSpPr>
        <p:spPr>
          <a:xfrm>
            <a:off x="2679192" y="5422392"/>
            <a:ext cx="740908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Core proposed</a:t>
            </a:r>
          </a:p>
        </p:txBody>
      </p:sp>
      <p:sp>
        <p:nvSpPr>
          <p:cNvPr id="142" name="Rounded Rectangle 289">
            <a:extLst>
              <a:ext uri="{FF2B5EF4-FFF2-40B4-BE49-F238E27FC236}">
                <a16:creationId xmlns:a16="http://schemas.microsoft.com/office/drawing/2014/main" id="{F52EB76A-093D-16B4-26C9-AAD65DEC7CA2}"/>
              </a:ext>
            </a:extLst>
          </p:cNvPr>
          <p:cNvSpPr/>
          <p:nvPr/>
        </p:nvSpPr>
        <p:spPr>
          <a:xfrm>
            <a:off x="4572000" y="5385816"/>
            <a:ext cx="192024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88E122B-74D9-4F25-5C20-7F247396CC15}"/>
              </a:ext>
            </a:extLst>
          </p:cNvPr>
          <p:cNvSpPr txBox="1"/>
          <p:nvPr/>
        </p:nvSpPr>
        <p:spPr>
          <a:xfrm>
            <a:off x="4645152" y="5422392"/>
            <a:ext cx="1106393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Strong local / less global</a:t>
            </a:r>
          </a:p>
        </p:txBody>
      </p:sp>
      <p:sp>
        <p:nvSpPr>
          <p:cNvPr id="144" name="Rounded Rectangle 291">
            <a:extLst>
              <a:ext uri="{FF2B5EF4-FFF2-40B4-BE49-F238E27FC236}">
                <a16:creationId xmlns:a16="http://schemas.microsoft.com/office/drawing/2014/main" id="{32068371-10C7-A78F-8A1D-CA5B36D5DE42}"/>
              </a:ext>
            </a:extLst>
          </p:cNvPr>
          <p:cNvSpPr/>
          <p:nvPr/>
        </p:nvSpPr>
        <p:spPr>
          <a:xfrm>
            <a:off x="6537960" y="5385816"/>
            <a:ext cx="192024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9590242-FACD-E9F2-3494-B69E174141E1}"/>
              </a:ext>
            </a:extLst>
          </p:cNvPr>
          <p:cNvSpPr txBox="1"/>
          <p:nvPr/>
        </p:nvSpPr>
        <p:spPr>
          <a:xfrm>
            <a:off x="6611112" y="5422392"/>
            <a:ext cx="1229824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Strong global / local payout</a:t>
            </a:r>
          </a:p>
        </p:txBody>
      </p:sp>
      <p:sp>
        <p:nvSpPr>
          <p:cNvPr id="146" name="Rounded Rectangle 293">
            <a:extLst>
              <a:ext uri="{FF2B5EF4-FFF2-40B4-BE49-F238E27FC236}">
                <a16:creationId xmlns:a16="http://schemas.microsoft.com/office/drawing/2014/main" id="{4A46170F-A6C2-6BE9-1D2A-86D50BFCAFB7}"/>
              </a:ext>
            </a:extLst>
          </p:cNvPr>
          <p:cNvSpPr/>
          <p:nvPr/>
        </p:nvSpPr>
        <p:spPr>
          <a:xfrm>
            <a:off x="8503920" y="5385816"/>
            <a:ext cx="333756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0F6E6D7-D8D8-5F21-7408-9757F18BD4EF}"/>
              </a:ext>
            </a:extLst>
          </p:cNvPr>
          <p:cNvSpPr txBox="1"/>
          <p:nvPr/>
        </p:nvSpPr>
        <p:spPr>
          <a:xfrm>
            <a:off x="8577072" y="5422392"/>
            <a:ext cx="1797287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Strong global / limited Nigeria-first bill pay</a:t>
            </a:r>
          </a:p>
        </p:txBody>
      </p:sp>
      <p:sp>
        <p:nvSpPr>
          <p:cNvPr id="148" name="Rounded Rectangle 295">
            <a:extLst>
              <a:ext uri="{FF2B5EF4-FFF2-40B4-BE49-F238E27FC236}">
                <a16:creationId xmlns:a16="http://schemas.microsoft.com/office/drawing/2014/main" id="{E1D82EBB-1DA6-2A88-252D-F53696C8DD9F}"/>
              </a:ext>
            </a:extLst>
          </p:cNvPr>
          <p:cNvSpPr/>
          <p:nvPr/>
        </p:nvSpPr>
        <p:spPr>
          <a:xfrm>
            <a:off x="320040" y="5747004"/>
            <a:ext cx="224028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BEA3567-D25D-485B-7F5E-49E7BD4427B1}"/>
              </a:ext>
            </a:extLst>
          </p:cNvPr>
          <p:cNvSpPr txBox="1"/>
          <p:nvPr/>
        </p:nvSpPr>
        <p:spPr>
          <a:xfrm>
            <a:off x="393192" y="5783580"/>
            <a:ext cx="1048685" cy="206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40" b="0">
                <a:solidFill>
                  <a:srgbClr val="26303C"/>
                </a:solidFill>
              </a:defRPr>
            </a:pPr>
            <a:r>
              <a:rPr b="1"/>
              <a:t>Gift-card marketplace</a:t>
            </a:r>
          </a:p>
        </p:txBody>
      </p:sp>
      <p:sp>
        <p:nvSpPr>
          <p:cNvPr id="150" name="Rounded Rectangle 297">
            <a:extLst>
              <a:ext uri="{FF2B5EF4-FFF2-40B4-BE49-F238E27FC236}">
                <a16:creationId xmlns:a16="http://schemas.microsoft.com/office/drawing/2014/main" id="{E7C0AB5C-B84B-1271-D2C9-0C5F355947D2}"/>
              </a:ext>
            </a:extLst>
          </p:cNvPr>
          <p:cNvSpPr/>
          <p:nvPr/>
        </p:nvSpPr>
        <p:spPr>
          <a:xfrm>
            <a:off x="2606040" y="5747004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41972AC-8900-AAC2-1819-519C1A39FB09}"/>
              </a:ext>
            </a:extLst>
          </p:cNvPr>
          <p:cNvSpPr txBox="1"/>
          <p:nvPr/>
        </p:nvSpPr>
        <p:spPr>
          <a:xfrm>
            <a:off x="2679192" y="5783580"/>
            <a:ext cx="740908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Core proposed</a:t>
            </a:r>
          </a:p>
        </p:txBody>
      </p:sp>
      <p:sp>
        <p:nvSpPr>
          <p:cNvPr id="152" name="Rounded Rectangle 299">
            <a:extLst>
              <a:ext uri="{FF2B5EF4-FFF2-40B4-BE49-F238E27FC236}">
                <a16:creationId xmlns:a16="http://schemas.microsoft.com/office/drawing/2014/main" id="{3CCA4788-3E4E-2A2A-1BF9-9EA9FC1B51B5}"/>
              </a:ext>
            </a:extLst>
          </p:cNvPr>
          <p:cNvSpPr/>
          <p:nvPr/>
        </p:nvSpPr>
        <p:spPr>
          <a:xfrm>
            <a:off x="4572000" y="5747004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226AE18D-0570-4A5C-DA5B-9DA9907C61D1}"/>
              </a:ext>
            </a:extLst>
          </p:cNvPr>
          <p:cNvSpPr txBox="1"/>
          <p:nvPr/>
        </p:nvSpPr>
        <p:spPr>
          <a:xfrm>
            <a:off x="4645152" y="5783580"/>
            <a:ext cx="1208985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Requires direct verification</a:t>
            </a:r>
          </a:p>
        </p:txBody>
      </p:sp>
      <p:sp>
        <p:nvSpPr>
          <p:cNvPr id="154" name="Rounded Rectangle 301">
            <a:extLst>
              <a:ext uri="{FF2B5EF4-FFF2-40B4-BE49-F238E27FC236}">
                <a16:creationId xmlns:a16="http://schemas.microsoft.com/office/drawing/2014/main" id="{8875C05E-3033-8442-DC71-E5CFC65943E4}"/>
              </a:ext>
            </a:extLst>
          </p:cNvPr>
          <p:cNvSpPr/>
          <p:nvPr/>
        </p:nvSpPr>
        <p:spPr>
          <a:xfrm>
            <a:off x="6537960" y="5747004"/>
            <a:ext cx="192024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E21D47B-4655-C76A-1779-684D7F93C6B9}"/>
              </a:ext>
            </a:extLst>
          </p:cNvPr>
          <p:cNvSpPr txBox="1"/>
          <p:nvPr/>
        </p:nvSpPr>
        <p:spPr>
          <a:xfrm>
            <a:off x="6611112" y="5783580"/>
            <a:ext cx="1152880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Not a primary benchmark</a:t>
            </a:r>
          </a:p>
        </p:txBody>
      </p:sp>
      <p:sp>
        <p:nvSpPr>
          <p:cNvPr id="156" name="Rounded Rectangle 303">
            <a:extLst>
              <a:ext uri="{FF2B5EF4-FFF2-40B4-BE49-F238E27FC236}">
                <a16:creationId xmlns:a16="http://schemas.microsoft.com/office/drawing/2014/main" id="{FA503402-42D4-D19F-AC8D-CEB52F977CFC}"/>
              </a:ext>
            </a:extLst>
          </p:cNvPr>
          <p:cNvSpPr/>
          <p:nvPr/>
        </p:nvSpPr>
        <p:spPr>
          <a:xfrm>
            <a:off x="8503920" y="5747004"/>
            <a:ext cx="3337560" cy="26517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9E79088-E9F1-D103-D014-F782E74FD614}"/>
              </a:ext>
            </a:extLst>
          </p:cNvPr>
          <p:cNvSpPr txBox="1"/>
          <p:nvPr/>
        </p:nvSpPr>
        <p:spPr>
          <a:xfrm>
            <a:off x="8577072" y="5783580"/>
            <a:ext cx="1152880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Not a primary benchmark</a:t>
            </a:r>
          </a:p>
        </p:txBody>
      </p:sp>
      <p:sp>
        <p:nvSpPr>
          <p:cNvPr id="158" name="Rounded Rectangle 305">
            <a:extLst>
              <a:ext uri="{FF2B5EF4-FFF2-40B4-BE49-F238E27FC236}">
                <a16:creationId xmlns:a16="http://schemas.microsoft.com/office/drawing/2014/main" id="{F4D842CD-97DB-97F1-00FD-A948D341D17E}"/>
              </a:ext>
            </a:extLst>
          </p:cNvPr>
          <p:cNvSpPr/>
          <p:nvPr/>
        </p:nvSpPr>
        <p:spPr>
          <a:xfrm>
            <a:off x="320040" y="6044184"/>
            <a:ext cx="224028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B03A661-329D-3E7F-3AC0-BCF2EF6D46F6}"/>
              </a:ext>
            </a:extLst>
          </p:cNvPr>
          <p:cNvSpPr txBox="1"/>
          <p:nvPr/>
        </p:nvSpPr>
        <p:spPr>
          <a:xfrm>
            <a:off x="393192" y="6080760"/>
            <a:ext cx="1146468" cy="206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40" b="0">
                <a:solidFill>
                  <a:srgbClr val="26303C"/>
                </a:solidFill>
              </a:defRPr>
            </a:pPr>
            <a:r>
              <a:rPr b="1"/>
              <a:t>Main customer segment</a:t>
            </a:r>
          </a:p>
        </p:txBody>
      </p:sp>
      <p:sp>
        <p:nvSpPr>
          <p:cNvPr id="160" name="Rounded Rectangle 307">
            <a:extLst>
              <a:ext uri="{FF2B5EF4-FFF2-40B4-BE49-F238E27FC236}">
                <a16:creationId xmlns:a16="http://schemas.microsoft.com/office/drawing/2014/main" id="{FEC69DF0-923B-3627-87D7-BBA190AA0567}"/>
              </a:ext>
            </a:extLst>
          </p:cNvPr>
          <p:cNvSpPr/>
          <p:nvPr/>
        </p:nvSpPr>
        <p:spPr>
          <a:xfrm>
            <a:off x="2606040" y="6044184"/>
            <a:ext cx="192024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BF27CD4-C61E-B9B8-F02E-0FECEBEC89FA}"/>
              </a:ext>
            </a:extLst>
          </p:cNvPr>
          <p:cNvSpPr txBox="1"/>
          <p:nvPr/>
        </p:nvSpPr>
        <p:spPr>
          <a:xfrm>
            <a:off x="2679192" y="6080760"/>
            <a:ext cx="1066318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Nigeria-first consumers</a:t>
            </a:r>
          </a:p>
        </p:txBody>
      </p:sp>
      <p:sp>
        <p:nvSpPr>
          <p:cNvPr id="162" name="Rounded Rectangle 309">
            <a:extLst>
              <a:ext uri="{FF2B5EF4-FFF2-40B4-BE49-F238E27FC236}">
                <a16:creationId xmlns:a16="http://schemas.microsoft.com/office/drawing/2014/main" id="{7C9E5F7E-B0BF-EE2D-71D7-35EBA14E0EAA}"/>
              </a:ext>
            </a:extLst>
          </p:cNvPr>
          <p:cNvSpPr/>
          <p:nvPr/>
        </p:nvSpPr>
        <p:spPr>
          <a:xfrm>
            <a:off x="4572000" y="6044184"/>
            <a:ext cx="192024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A8D1E85-3D41-4EC9-3410-93B0AF61A2D0}"/>
              </a:ext>
            </a:extLst>
          </p:cNvPr>
          <p:cNvSpPr txBox="1"/>
          <p:nvPr/>
        </p:nvSpPr>
        <p:spPr>
          <a:xfrm>
            <a:off x="4645152" y="6080760"/>
            <a:ext cx="1415772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Nigerian consumers / merchants</a:t>
            </a:r>
          </a:p>
        </p:txBody>
      </p:sp>
      <p:sp>
        <p:nvSpPr>
          <p:cNvPr id="164" name="Rounded Rectangle 311">
            <a:extLst>
              <a:ext uri="{FF2B5EF4-FFF2-40B4-BE49-F238E27FC236}">
                <a16:creationId xmlns:a16="http://schemas.microsoft.com/office/drawing/2014/main" id="{D7AF96B3-638F-FEBB-5B5D-3D8B4C23484F}"/>
              </a:ext>
            </a:extLst>
          </p:cNvPr>
          <p:cNvSpPr/>
          <p:nvPr/>
        </p:nvSpPr>
        <p:spPr>
          <a:xfrm>
            <a:off x="6537960" y="6044184"/>
            <a:ext cx="192024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1757FD8-DFCC-6C12-B366-62837EB2619A}"/>
              </a:ext>
            </a:extLst>
          </p:cNvPr>
          <p:cNvSpPr txBox="1"/>
          <p:nvPr/>
        </p:nvSpPr>
        <p:spPr>
          <a:xfrm>
            <a:off x="6611112" y="6080760"/>
            <a:ext cx="1834156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Freelancers, creators, businesses, travellers</a:t>
            </a:r>
          </a:p>
        </p:txBody>
      </p:sp>
      <p:sp>
        <p:nvSpPr>
          <p:cNvPr id="166" name="Rounded Rectangle 313">
            <a:extLst>
              <a:ext uri="{FF2B5EF4-FFF2-40B4-BE49-F238E27FC236}">
                <a16:creationId xmlns:a16="http://schemas.microsoft.com/office/drawing/2014/main" id="{DC020417-E889-FF1C-3FA6-840A50FBBC28}"/>
              </a:ext>
            </a:extLst>
          </p:cNvPr>
          <p:cNvSpPr/>
          <p:nvPr/>
        </p:nvSpPr>
        <p:spPr>
          <a:xfrm>
            <a:off x="8503920" y="6044184"/>
            <a:ext cx="333756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0DFF01E-4A02-0FA8-3E77-BA0F0B3AE2E9}"/>
              </a:ext>
            </a:extLst>
          </p:cNvPr>
          <p:cNvSpPr txBox="1"/>
          <p:nvPr/>
        </p:nvSpPr>
        <p:spPr>
          <a:xfrm>
            <a:off x="8577072" y="6080760"/>
            <a:ext cx="1388522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International users / businesses</a:t>
            </a:r>
          </a:p>
        </p:txBody>
      </p:sp>
      <p:sp>
        <p:nvSpPr>
          <p:cNvPr id="168" name="Rounded Rectangle 315">
            <a:extLst>
              <a:ext uri="{FF2B5EF4-FFF2-40B4-BE49-F238E27FC236}">
                <a16:creationId xmlns:a16="http://schemas.microsoft.com/office/drawing/2014/main" id="{719D60AE-258B-AC9F-02BD-933C759157ED}"/>
              </a:ext>
            </a:extLst>
          </p:cNvPr>
          <p:cNvSpPr/>
          <p:nvPr/>
        </p:nvSpPr>
        <p:spPr>
          <a:xfrm>
            <a:off x="320040" y="6405372"/>
            <a:ext cx="224028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1518F807-A94F-B2DD-D9DE-BFFEDB2CAE44}"/>
              </a:ext>
            </a:extLst>
          </p:cNvPr>
          <p:cNvSpPr txBox="1"/>
          <p:nvPr/>
        </p:nvSpPr>
        <p:spPr>
          <a:xfrm>
            <a:off x="393192" y="6441948"/>
            <a:ext cx="950901" cy="206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40" b="0">
                <a:solidFill>
                  <a:srgbClr val="26303C"/>
                </a:solidFill>
              </a:defRPr>
            </a:pPr>
            <a:r>
              <a:rPr b="1"/>
              <a:t>Main differentiator</a:t>
            </a:r>
          </a:p>
        </p:txBody>
      </p:sp>
      <p:sp>
        <p:nvSpPr>
          <p:cNvPr id="170" name="Rounded Rectangle 317">
            <a:extLst>
              <a:ext uri="{FF2B5EF4-FFF2-40B4-BE49-F238E27FC236}">
                <a16:creationId xmlns:a16="http://schemas.microsoft.com/office/drawing/2014/main" id="{11B3875B-9B20-6C1B-B590-538110854905}"/>
              </a:ext>
            </a:extLst>
          </p:cNvPr>
          <p:cNvSpPr/>
          <p:nvPr/>
        </p:nvSpPr>
        <p:spPr>
          <a:xfrm>
            <a:off x="2606040" y="6405372"/>
            <a:ext cx="192024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6456FFB2-2769-0AAA-112F-EAB707B44784}"/>
              </a:ext>
            </a:extLst>
          </p:cNvPr>
          <p:cNvSpPr txBox="1"/>
          <p:nvPr/>
        </p:nvSpPr>
        <p:spPr>
          <a:xfrm>
            <a:off x="2679192" y="6441948"/>
            <a:ext cx="1770036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Local utility + global spend + transparency</a:t>
            </a:r>
          </a:p>
        </p:txBody>
      </p:sp>
      <p:sp>
        <p:nvSpPr>
          <p:cNvPr id="172" name="Rounded Rectangle 319">
            <a:extLst>
              <a:ext uri="{FF2B5EF4-FFF2-40B4-BE49-F238E27FC236}">
                <a16:creationId xmlns:a16="http://schemas.microsoft.com/office/drawing/2014/main" id="{16154153-F6FF-3E4D-7717-78F0EBEC5343}"/>
              </a:ext>
            </a:extLst>
          </p:cNvPr>
          <p:cNvSpPr/>
          <p:nvPr/>
        </p:nvSpPr>
        <p:spPr>
          <a:xfrm>
            <a:off x="4572000" y="6405372"/>
            <a:ext cx="192024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3249B47-D69C-1E23-84F4-0D12ACB72A51}"/>
              </a:ext>
            </a:extLst>
          </p:cNvPr>
          <p:cNvSpPr txBox="1"/>
          <p:nvPr/>
        </p:nvSpPr>
        <p:spPr>
          <a:xfrm>
            <a:off x="4645152" y="6441948"/>
            <a:ext cx="1039067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Domestic convenience</a:t>
            </a:r>
          </a:p>
        </p:txBody>
      </p:sp>
      <p:sp>
        <p:nvSpPr>
          <p:cNvPr id="174" name="Rounded Rectangle 321">
            <a:extLst>
              <a:ext uri="{FF2B5EF4-FFF2-40B4-BE49-F238E27FC236}">
                <a16:creationId xmlns:a16="http://schemas.microsoft.com/office/drawing/2014/main" id="{2F4807D6-22B2-FF83-97DB-1ADD5EB9F8DF}"/>
              </a:ext>
            </a:extLst>
          </p:cNvPr>
          <p:cNvSpPr/>
          <p:nvPr/>
        </p:nvSpPr>
        <p:spPr>
          <a:xfrm>
            <a:off x="6537960" y="6405372"/>
            <a:ext cx="192024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9BCDD446-6545-BA71-5A78-63692523FE0A}"/>
              </a:ext>
            </a:extLst>
          </p:cNvPr>
          <p:cNvSpPr txBox="1"/>
          <p:nvPr/>
        </p:nvSpPr>
        <p:spPr>
          <a:xfrm>
            <a:off x="6611112" y="6441948"/>
            <a:ext cx="1462260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Local + global financial ecosystem</a:t>
            </a:r>
          </a:p>
        </p:txBody>
      </p:sp>
      <p:sp>
        <p:nvSpPr>
          <p:cNvPr id="176" name="Rounded Rectangle 323">
            <a:extLst>
              <a:ext uri="{FF2B5EF4-FFF2-40B4-BE49-F238E27FC236}">
                <a16:creationId xmlns:a16="http://schemas.microsoft.com/office/drawing/2014/main" id="{9AE0D19D-08AE-B763-D72D-38412C225A36}"/>
              </a:ext>
            </a:extLst>
          </p:cNvPr>
          <p:cNvSpPr/>
          <p:nvPr/>
        </p:nvSpPr>
        <p:spPr>
          <a:xfrm>
            <a:off x="8503920" y="6405372"/>
            <a:ext cx="3337560" cy="329184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0D62E15F-6487-098C-50C2-5784E32FF569}"/>
              </a:ext>
            </a:extLst>
          </p:cNvPr>
          <p:cNvSpPr txBox="1"/>
          <p:nvPr/>
        </p:nvSpPr>
        <p:spPr>
          <a:xfrm>
            <a:off x="8577072" y="6441948"/>
            <a:ext cx="1604927" cy="201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10" b="0">
                <a:solidFill>
                  <a:srgbClr val="26303C"/>
                </a:solidFill>
              </a:defRPr>
            </a:pPr>
            <a:r>
              <a:rPr b="1"/>
              <a:t>International reach + FX transparency</a:t>
            </a:r>
          </a:p>
        </p:txBody>
      </p:sp>
    </p:spTree>
    <p:extLst>
      <p:ext uri="{BB962C8B-B14F-4D97-AF65-F5344CB8AC3E}">
        <p14:creationId xmlns:p14="http://schemas.microsoft.com/office/powerpoint/2010/main" val="2904645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C72DC-3590-F70F-79F2-7555B6F1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0452C-9BC9-6FE5-44BE-105D37A78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ECBEED-FCA9-A190-F31C-570DC43CBA6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23EEF2-2B8D-B729-F77F-76C54461CF4C}"/>
              </a:ext>
            </a:extLst>
          </p:cNvPr>
          <p:cNvSpPr txBox="1"/>
          <p:nvPr/>
        </p:nvSpPr>
        <p:spPr>
          <a:xfrm>
            <a:off x="594360" y="320040"/>
            <a:ext cx="826001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A"/>
                </a:solidFill>
              </a:defRPr>
            </a:pPr>
            <a:r>
              <a:rPr lang="en-GB" dirty="0">
                <a:latin typeface="Bell MT" panose="02020503060305020303" pitchFamily="18" charset="0"/>
              </a:rPr>
              <a:t>3</a:t>
            </a:r>
            <a:r>
              <a:rPr dirty="0">
                <a:latin typeface="Bell MT" panose="02020503060305020303" pitchFamily="18" charset="0"/>
              </a:rPr>
              <a:t>. High-Value Data Point #1 — Unified Consumer Wallet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4CA9688-CBA5-C575-C425-45E2449A8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21019"/>
              </p:ext>
            </p:extLst>
          </p:nvPr>
        </p:nvGraphicFramePr>
        <p:xfrm>
          <a:off x="457200" y="123444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Type of data generated</a:t>
                      </a:r>
                    </a:p>
                  </a:txBody>
                  <a:tcPr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Business team</a:t>
                      </a:r>
                    </a:p>
                  </a:txBody>
                  <a:tcPr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Why it matters</a:t>
                      </a:r>
                    </a:p>
                  </a:txBody>
                  <a:tcPr>
                    <a:solidFill>
                      <a:srgbClr val="18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 dirty="0"/>
                        <a:t>Feature adoption: NGN wallet, USD account, virtual card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Product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Shows which components gain traction and where investment is justified.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Cross-feature journeys: NGN → USD → 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Product / 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Tests whether the unified proposition creates connected usage.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Transaction frequency, value and recency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Product / Marketing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Identifies active, high-value and at-risk segments.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Bill-pay vs. global-spend behaviour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Shows which use cases attract and retain different groups.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 dirty="0"/>
                        <a:t>Time to first value + journey drop-off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Product / Design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 dirty="0"/>
                        <a:t>Reveals friction between sign-up, KYC, funding and first successful transaction.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1074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75B7A-50B2-BB3D-33C8-F65CE3B88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391A-C370-8F9F-B4BF-B33E6C1FC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ED23F3-9C2C-C99C-C77B-B8C61A0BB102}"/>
              </a:ext>
            </a:extLst>
          </p:cNvPr>
          <p:cNvSpPr/>
          <p:nvPr/>
        </p:nvSpPr>
        <p:spPr>
          <a:xfrm>
            <a:off x="0" y="51381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2BE91C-6ECB-6927-84A5-61FA4226FBBC}"/>
              </a:ext>
            </a:extLst>
          </p:cNvPr>
          <p:cNvSpPr txBox="1"/>
          <p:nvPr/>
        </p:nvSpPr>
        <p:spPr>
          <a:xfrm>
            <a:off x="594360" y="320040"/>
            <a:ext cx="773083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A"/>
                </a:solidFill>
              </a:defRPr>
            </a:pPr>
            <a:r>
              <a:rPr lang="en-GB" dirty="0">
                <a:latin typeface="Bell MT" panose="02020503060305020303" pitchFamily="18" charset="0"/>
              </a:rPr>
              <a:t>4</a:t>
            </a:r>
            <a:r>
              <a:rPr dirty="0">
                <a:latin typeface="Bell MT" panose="02020503060305020303" pitchFamily="18" charset="0"/>
              </a:rPr>
              <a:t>. High-Value Data Point #2 — Transparent Fee Card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268343D-028C-1123-FCBC-395934926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078636"/>
              </p:ext>
            </p:extLst>
          </p:nvPr>
        </p:nvGraphicFramePr>
        <p:xfrm>
          <a:off x="457200" y="123444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Type of data generated</a:t>
                      </a:r>
                    </a:p>
                  </a:txBody>
                  <a:tcPr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Business team</a:t>
                      </a:r>
                    </a:p>
                  </a:txBody>
                  <a:tcPr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Why it matters</a:t>
                      </a:r>
                    </a:p>
                  </a:txBody>
                  <a:tcPr>
                    <a:solidFill>
                      <a:srgbClr val="18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Fee-page views and interactions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Product / Marketing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Shows which charges customers need help understanding.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Transaction abandonment after fee disclosure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Tests whether price or presentation creates conversion friction.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Revenue and transaction volume by fee type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Finance / Product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Supports pricing and unit-economics decisions.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FX quote viewed vs. transaction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Product / 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Measures response to the displayed total cost.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 dirty="0"/>
                        <a:t>Fee-related complaints and support contacts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Support / Product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 dirty="0"/>
                        <a:t>Identifies unclear charges and recurring trust issues.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608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62766-9A86-3907-3606-9E56B2C1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22D71-E231-52B4-1827-F2D3A53CD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74EEA3-F4FC-D770-F05F-9B85F4674E4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C48941-E9DC-9B6F-A888-52B52776BA2F}"/>
              </a:ext>
            </a:extLst>
          </p:cNvPr>
          <p:cNvSpPr txBox="1"/>
          <p:nvPr/>
        </p:nvSpPr>
        <p:spPr>
          <a:xfrm>
            <a:off x="594360" y="320040"/>
            <a:ext cx="884543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A"/>
                </a:solidFill>
              </a:defRPr>
            </a:pPr>
            <a:r>
              <a:rPr lang="en-GB" dirty="0">
                <a:latin typeface="Bell MT" panose="02020503060305020303" pitchFamily="18" charset="0"/>
              </a:rPr>
              <a:t>5</a:t>
            </a:r>
            <a:r>
              <a:rPr dirty="0">
                <a:latin typeface="Bell MT" panose="02020503060305020303" pitchFamily="18" charset="0"/>
              </a:rPr>
              <a:t>. High-Value Data Point #3 — Speedy KYC &amp; Tiered System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1307E9-E94F-1610-D966-C8879D0D1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056654"/>
              </p:ext>
            </p:extLst>
          </p:nvPr>
        </p:nvGraphicFramePr>
        <p:xfrm>
          <a:off x="457200" y="123444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539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Type of data generated</a:t>
                      </a:r>
                    </a:p>
                  </a:txBody>
                  <a:tcPr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Business team</a:t>
                      </a:r>
                    </a:p>
                  </a:txBody>
                  <a:tcPr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Why it matters</a:t>
                      </a:r>
                    </a:p>
                  </a:txBody>
                  <a:tcPr>
                    <a:solidFill>
                      <a:srgbClr val="18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KYC completion rate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Product / Design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Measures whether onboarding successfully moves users through verification.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Drop-off by KYC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Identifies the exact screen, document or instruction creating friction.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Verification failure reasons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Compliance / Product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Separates unavoidable compliance issues from avoidable UX problems.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Time to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Tests the 'verify in minutes' proposition and operational bottlenecks.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Users by tier + upgrade rate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Product / Marketing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Shows progression into higher-value tiers and subsequent behaviour.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3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Transaction value by KYC 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/>
                        <a:t>Product /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3137"/>
                          </a:solidFill>
                        </a:defRPr>
                      </a:pPr>
                      <a:r>
                        <a:rPr sz="1200" b="1" dirty="0"/>
                        <a:t>Helps assess whether limits align with customer </a:t>
                      </a:r>
                      <a:r>
                        <a:rPr sz="1200" b="1" dirty="0" err="1"/>
                        <a:t>behaviour</a:t>
                      </a:r>
                      <a:r>
                        <a:rPr sz="1200" b="1" dirty="0"/>
                        <a:t> and risk needs.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648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56">
            <a:extLst>
              <a:ext uri="{FF2B5EF4-FFF2-40B4-BE49-F238E27FC236}">
                <a16:creationId xmlns:a16="http://schemas.microsoft.com/office/drawing/2014/main" id="{DC7E3ACC-F8A1-66F7-24EA-8778BE631C4E}"/>
              </a:ext>
            </a:extLst>
          </p:cNvPr>
          <p:cNvSpPr/>
          <p:nvPr/>
        </p:nvSpPr>
        <p:spPr>
          <a:xfrm>
            <a:off x="305" y="530351"/>
            <a:ext cx="12191695" cy="118821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3E2B3F4-080B-F267-6D61-011FD9BF1528}"/>
              </a:ext>
            </a:extLst>
          </p:cNvPr>
          <p:cNvSpPr txBox="1"/>
          <p:nvPr/>
        </p:nvSpPr>
        <p:spPr>
          <a:xfrm>
            <a:off x="594665" y="877824"/>
            <a:ext cx="531074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53F"/>
                </a:solidFill>
              </a:defRPr>
            </a:pPr>
            <a:r>
              <a:rPr lang="en-GB" dirty="0">
                <a:latin typeface="Bell MT" panose="02020503060305020303" pitchFamily="18" charset="0"/>
              </a:rPr>
              <a:t>6</a:t>
            </a:r>
            <a:r>
              <a:rPr dirty="0">
                <a:latin typeface="Bell MT" panose="02020503060305020303" pitchFamily="18" charset="0"/>
              </a:rPr>
              <a:t>. Driving Data-Backed Decisions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D14EBD9-0B3B-CDD6-A92D-4E5AA4ED8972}"/>
              </a:ext>
            </a:extLst>
          </p:cNvPr>
          <p:cNvSpPr txBox="1"/>
          <p:nvPr/>
        </p:nvSpPr>
        <p:spPr>
          <a:xfrm>
            <a:off x="622097" y="1472184"/>
            <a:ext cx="4094391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A"/>
                </a:solidFill>
              </a:defRPr>
            </a:pPr>
            <a:r>
              <a:rPr b="1" dirty="0">
                <a:solidFill>
                  <a:srgbClr val="002060"/>
                </a:solidFill>
              </a:rPr>
              <a:t>Examples of how SIDONPAY can turn product signals into action</a:t>
            </a:r>
          </a:p>
        </p:txBody>
      </p:sp>
      <p:sp>
        <p:nvSpPr>
          <p:cNvPr id="163" name="Rounded Rectangle 4">
            <a:extLst>
              <a:ext uri="{FF2B5EF4-FFF2-40B4-BE49-F238E27FC236}">
                <a16:creationId xmlns:a16="http://schemas.microsoft.com/office/drawing/2014/main" id="{E407791D-B296-77D0-4626-FF5FDB053053}"/>
              </a:ext>
            </a:extLst>
          </p:cNvPr>
          <p:cNvSpPr/>
          <p:nvPr/>
        </p:nvSpPr>
        <p:spPr>
          <a:xfrm>
            <a:off x="594665" y="1810512"/>
            <a:ext cx="2057400" cy="982260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F98FD24-7112-F7F8-6ABC-DE05A296ADE7}"/>
              </a:ext>
            </a:extLst>
          </p:cNvPr>
          <p:cNvSpPr/>
          <p:nvPr/>
        </p:nvSpPr>
        <p:spPr>
          <a:xfrm>
            <a:off x="594665" y="1810512"/>
            <a:ext cx="73152" cy="98226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E6D7EC8-2746-2ADB-714A-878B48556FE9}"/>
              </a:ext>
            </a:extLst>
          </p:cNvPr>
          <p:cNvSpPr txBox="1"/>
          <p:nvPr/>
        </p:nvSpPr>
        <p:spPr>
          <a:xfrm>
            <a:off x="795833" y="1947671"/>
            <a:ext cx="1691640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r>
              <a:t>Signal</a:t>
            </a:r>
          </a:p>
          <a:p>
            <a:pPr>
              <a:defRPr sz="1150">
                <a:solidFill>
                  <a:srgbClr val="26303C"/>
                </a:solidFill>
              </a:defRPr>
            </a:pPr>
            <a:endParaRPr/>
          </a:p>
        </p:txBody>
      </p:sp>
      <p:sp>
        <p:nvSpPr>
          <p:cNvPr id="169" name="Rounded Rectangle 7">
            <a:extLst>
              <a:ext uri="{FF2B5EF4-FFF2-40B4-BE49-F238E27FC236}">
                <a16:creationId xmlns:a16="http://schemas.microsoft.com/office/drawing/2014/main" id="{BEAC8263-3E96-6CFD-433D-B85AD8330115}"/>
              </a:ext>
            </a:extLst>
          </p:cNvPr>
          <p:cNvSpPr/>
          <p:nvPr/>
        </p:nvSpPr>
        <p:spPr>
          <a:xfrm>
            <a:off x="2652065" y="1810512"/>
            <a:ext cx="2926080" cy="982260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4B9B6150-3323-4255-5516-D25F2BCA7A79}"/>
              </a:ext>
            </a:extLst>
          </p:cNvPr>
          <p:cNvSpPr/>
          <p:nvPr/>
        </p:nvSpPr>
        <p:spPr>
          <a:xfrm>
            <a:off x="2652065" y="1810512"/>
            <a:ext cx="73152" cy="98226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BB6EA3B0-A205-7601-1DC0-807890EFFCC4}"/>
              </a:ext>
            </a:extLst>
          </p:cNvPr>
          <p:cNvSpPr txBox="1"/>
          <p:nvPr/>
        </p:nvSpPr>
        <p:spPr>
          <a:xfrm>
            <a:off x="2853233" y="1947671"/>
            <a:ext cx="2560320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r>
              <a:rPr dirty="0"/>
              <a:t>Insight</a:t>
            </a:r>
          </a:p>
          <a:p>
            <a:pPr>
              <a:defRPr sz="1150">
                <a:solidFill>
                  <a:srgbClr val="26303C"/>
                </a:solidFill>
              </a:defRPr>
            </a:pPr>
            <a:endParaRPr dirty="0"/>
          </a:p>
        </p:txBody>
      </p:sp>
      <p:sp>
        <p:nvSpPr>
          <p:cNvPr id="175" name="Rounded Rectangle 10">
            <a:extLst>
              <a:ext uri="{FF2B5EF4-FFF2-40B4-BE49-F238E27FC236}">
                <a16:creationId xmlns:a16="http://schemas.microsoft.com/office/drawing/2014/main" id="{50085794-8C90-0772-9924-78EB3E826695}"/>
              </a:ext>
            </a:extLst>
          </p:cNvPr>
          <p:cNvSpPr/>
          <p:nvPr/>
        </p:nvSpPr>
        <p:spPr>
          <a:xfrm>
            <a:off x="5578145" y="1810512"/>
            <a:ext cx="3657600" cy="982260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47D4EE6D-3A9F-D45D-4A07-3A7C6E441034}"/>
              </a:ext>
            </a:extLst>
          </p:cNvPr>
          <p:cNvSpPr/>
          <p:nvPr/>
        </p:nvSpPr>
        <p:spPr>
          <a:xfrm>
            <a:off x="5578145" y="1810512"/>
            <a:ext cx="73152" cy="98226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33A25FE-B958-B09A-7A71-7E0921563632}"/>
              </a:ext>
            </a:extLst>
          </p:cNvPr>
          <p:cNvSpPr txBox="1"/>
          <p:nvPr/>
        </p:nvSpPr>
        <p:spPr>
          <a:xfrm>
            <a:off x="5779313" y="1947671"/>
            <a:ext cx="3291840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r>
              <a:t>Decision</a:t>
            </a:r>
          </a:p>
          <a:p>
            <a:pPr>
              <a:defRPr sz="1150">
                <a:solidFill>
                  <a:srgbClr val="26303C"/>
                </a:solidFill>
              </a:defRPr>
            </a:pPr>
            <a:endParaRPr/>
          </a:p>
        </p:txBody>
      </p:sp>
      <p:sp>
        <p:nvSpPr>
          <p:cNvPr id="181" name="Rounded Rectangle 13">
            <a:extLst>
              <a:ext uri="{FF2B5EF4-FFF2-40B4-BE49-F238E27FC236}">
                <a16:creationId xmlns:a16="http://schemas.microsoft.com/office/drawing/2014/main" id="{C414C8E4-DD2B-E4E9-59BD-FC7C98FF29EB}"/>
              </a:ext>
            </a:extLst>
          </p:cNvPr>
          <p:cNvSpPr/>
          <p:nvPr/>
        </p:nvSpPr>
        <p:spPr>
          <a:xfrm>
            <a:off x="9235745" y="1810512"/>
            <a:ext cx="2148840" cy="982260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4B6D11B2-8ADC-51F2-5591-B13F55B3029A}"/>
              </a:ext>
            </a:extLst>
          </p:cNvPr>
          <p:cNvSpPr/>
          <p:nvPr/>
        </p:nvSpPr>
        <p:spPr>
          <a:xfrm>
            <a:off x="9235745" y="1810512"/>
            <a:ext cx="73152" cy="98226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08BBD7A3-F037-3052-5E5E-22043D05AD45}"/>
              </a:ext>
            </a:extLst>
          </p:cNvPr>
          <p:cNvSpPr txBox="1"/>
          <p:nvPr/>
        </p:nvSpPr>
        <p:spPr>
          <a:xfrm>
            <a:off x="9436913" y="1947671"/>
            <a:ext cx="1783080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r>
              <a:t>Expected outcome</a:t>
            </a:r>
          </a:p>
          <a:p>
            <a:pPr>
              <a:defRPr sz="1150">
                <a:solidFill>
                  <a:srgbClr val="26303C"/>
                </a:solidFill>
              </a:defRPr>
            </a:pPr>
            <a:endParaRPr/>
          </a:p>
        </p:txBody>
      </p:sp>
      <p:sp>
        <p:nvSpPr>
          <p:cNvPr id="187" name="Rounded Rectangle 16">
            <a:extLst>
              <a:ext uri="{FF2B5EF4-FFF2-40B4-BE49-F238E27FC236}">
                <a16:creationId xmlns:a16="http://schemas.microsoft.com/office/drawing/2014/main" id="{39021764-AB16-81D2-D1D0-023673123C49}"/>
              </a:ext>
            </a:extLst>
          </p:cNvPr>
          <p:cNvSpPr/>
          <p:nvPr/>
        </p:nvSpPr>
        <p:spPr>
          <a:xfrm>
            <a:off x="594665" y="2468880"/>
            <a:ext cx="2057400" cy="123574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51C4CB7-8F21-B2A6-B78B-73D0EB91E033}"/>
              </a:ext>
            </a:extLst>
          </p:cNvPr>
          <p:cNvSpPr/>
          <p:nvPr/>
        </p:nvSpPr>
        <p:spPr>
          <a:xfrm>
            <a:off x="594665" y="2468880"/>
            <a:ext cx="73152" cy="1235746"/>
          </a:xfrm>
          <a:prstGeom prst="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A6918BF6-A39A-FA1E-B718-54B01FD3B34B}"/>
              </a:ext>
            </a:extLst>
          </p:cNvPr>
          <p:cNvSpPr txBox="1"/>
          <p:nvPr/>
        </p:nvSpPr>
        <p:spPr>
          <a:xfrm>
            <a:off x="795833" y="2606040"/>
            <a:ext cx="1691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endParaRPr sz="1200" dirty="0"/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sz="1200" dirty="0"/>
              <a:t>KYC abandonment</a:t>
            </a:r>
          </a:p>
        </p:txBody>
      </p:sp>
      <p:sp>
        <p:nvSpPr>
          <p:cNvPr id="193" name="Rounded Rectangle 19">
            <a:extLst>
              <a:ext uri="{FF2B5EF4-FFF2-40B4-BE49-F238E27FC236}">
                <a16:creationId xmlns:a16="http://schemas.microsoft.com/office/drawing/2014/main" id="{13BB7039-502B-9E48-D41C-026649676071}"/>
              </a:ext>
            </a:extLst>
          </p:cNvPr>
          <p:cNvSpPr/>
          <p:nvPr/>
        </p:nvSpPr>
        <p:spPr>
          <a:xfrm>
            <a:off x="2652065" y="2468880"/>
            <a:ext cx="2926080" cy="123574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89EC573-BE1F-BD5F-2696-04D3EEA75FF8}"/>
              </a:ext>
            </a:extLst>
          </p:cNvPr>
          <p:cNvSpPr/>
          <p:nvPr/>
        </p:nvSpPr>
        <p:spPr>
          <a:xfrm>
            <a:off x="2652065" y="2468880"/>
            <a:ext cx="73152" cy="1235746"/>
          </a:xfrm>
          <a:prstGeom prst="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C6D05D79-25DC-EEA9-31C3-92BC3EC76852}"/>
              </a:ext>
            </a:extLst>
          </p:cNvPr>
          <p:cNvSpPr txBox="1"/>
          <p:nvPr/>
        </p:nvSpPr>
        <p:spPr>
          <a:xfrm>
            <a:off x="2853233" y="2606040"/>
            <a:ext cx="2560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endParaRPr sz="1200" dirty="0"/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sz="1200" dirty="0"/>
              <a:t>Drop-off concentrated at document upload</a:t>
            </a:r>
          </a:p>
        </p:txBody>
      </p:sp>
      <p:sp>
        <p:nvSpPr>
          <p:cNvPr id="199" name="Rounded Rectangle 22">
            <a:extLst>
              <a:ext uri="{FF2B5EF4-FFF2-40B4-BE49-F238E27FC236}">
                <a16:creationId xmlns:a16="http://schemas.microsoft.com/office/drawing/2014/main" id="{5138FDC0-DF2A-6645-D83D-60AFD7F6AFF1}"/>
              </a:ext>
            </a:extLst>
          </p:cNvPr>
          <p:cNvSpPr/>
          <p:nvPr/>
        </p:nvSpPr>
        <p:spPr>
          <a:xfrm>
            <a:off x="5578145" y="2468880"/>
            <a:ext cx="3657600" cy="123574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D1945411-4421-2A87-8375-9FC1D43D2326}"/>
              </a:ext>
            </a:extLst>
          </p:cNvPr>
          <p:cNvSpPr/>
          <p:nvPr/>
        </p:nvSpPr>
        <p:spPr>
          <a:xfrm>
            <a:off x="5578145" y="2468880"/>
            <a:ext cx="73152" cy="1235746"/>
          </a:xfrm>
          <a:prstGeom prst="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93254355-787D-8AAF-02A2-EF86F7232347}"/>
              </a:ext>
            </a:extLst>
          </p:cNvPr>
          <p:cNvSpPr txBox="1"/>
          <p:nvPr/>
        </p:nvSpPr>
        <p:spPr>
          <a:xfrm>
            <a:off x="5779313" y="2606040"/>
            <a:ext cx="3291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endParaRPr sz="1200"/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sz="1200" dirty="0"/>
              <a:t>Design simplifies instructions / flow</a:t>
            </a:r>
          </a:p>
        </p:txBody>
      </p:sp>
      <p:sp>
        <p:nvSpPr>
          <p:cNvPr id="205" name="Rounded Rectangle 25">
            <a:extLst>
              <a:ext uri="{FF2B5EF4-FFF2-40B4-BE49-F238E27FC236}">
                <a16:creationId xmlns:a16="http://schemas.microsoft.com/office/drawing/2014/main" id="{8CD0C7CD-C416-7EF0-0A23-0B952AFB2E62}"/>
              </a:ext>
            </a:extLst>
          </p:cNvPr>
          <p:cNvSpPr/>
          <p:nvPr/>
        </p:nvSpPr>
        <p:spPr>
          <a:xfrm>
            <a:off x="9235745" y="2468880"/>
            <a:ext cx="2148840" cy="123574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4A66BB29-10DD-04B2-8807-2786F3273B5D}"/>
              </a:ext>
            </a:extLst>
          </p:cNvPr>
          <p:cNvSpPr/>
          <p:nvPr/>
        </p:nvSpPr>
        <p:spPr>
          <a:xfrm>
            <a:off x="9235745" y="2468880"/>
            <a:ext cx="73152" cy="1235746"/>
          </a:xfrm>
          <a:prstGeom prst="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401CAC0E-85A6-8BF9-F4C7-AF4769DA7259}"/>
              </a:ext>
            </a:extLst>
          </p:cNvPr>
          <p:cNvSpPr txBox="1"/>
          <p:nvPr/>
        </p:nvSpPr>
        <p:spPr>
          <a:xfrm>
            <a:off x="9436913" y="2606040"/>
            <a:ext cx="1783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endParaRPr sz="1200"/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sz="1200"/>
              <a:t>Higher KYC completion</a:t>
            </a:r>
          </a:p>
        </p:txBody>
      </p:sp>
      <p:sp>
        <p:nvSpPr>
          <p:cNvPr id="211" name="Rounded Rectangle 28">
            <a:extLst>
              <a:ext uri="{FF2B5EF4-FFF2-40B4-BE49-F238E27FC236}">
                <a16:creationId xmlns:a16="http://schemas.microsoft.com/office/drawing/2014/main" id="{1B413081-C522-A5B9-950A-0209F9BE05CD}"/>
              </a:ext>
            </a:extLst>
          </p:cNvPr>
          <p:cNvSpPr/>
          <p:nvPr/>
        </p:nvSpPr>
        <p:spPr>
          <a:xfrm>
            <a:off x="594665" y="3291840"/>
            <a:ext cx="2057400" cy="123574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104063B0-D8B5-1E0E-35F3-04FAC558526A}"/>
              </a:ext>
            </a:extLst>
          </p:cNvPr>
          <p:cNvSpPr/>
          <p:nvPr/>
        </p:nvSpPr>
        <p:spPr>
          <a:xfrm>
            <a:off x="594665" y="3291840"/>
            <a:ext cx="73152" cy="1235746"/>
          </a:xfrm>
          <a:prstGeom prst="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F701354-61EA-F88E-D822-A3C1CD3D8F5C}"/>
              </a:ext>
            </a:extLst>
          </p:cNvPr>
          <p:cNvSpPr txBox="1"/>
          <p:nvPr/>
        </p:nvSpPr>
        <p:spPr>
          <a:xfrm>
            <a:off x="795833" y="3429000"/>
            <a:ext cx="1691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endParaRPr sz="1200" dirty="0"/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sz="1200" dirty="0"/>
              <a:t>High bill-pay repeat rate</a:t>
            </a:r>
          </a:p>
        </p:txBody>
      </p:sp>
      <p:sp>
        <p:nvSpPr>
          <p:cNvPr id="217" name="Rounded Rectangle 31">
            <a:extLst>
              <a:ext uri="{FF2B5EF4-FFF2-40B4-BE49-F238E27FC236}">
                <a16:creationId xmlns:a16="http://schemas.microsoft.com/office/drawing/2014/main" id="{FABC98B8-064A-3109-4992-8DAD3A58C53B}"/>
              </a:ext>
            </a:extLst>
          </p:cNvPr>
          <p:cNvSpPr/>
          <p:nvPr/>
        </p:nvSpPr>
        <p:spPr>
          <a:xfrm>
            <a:off x="2652065" y="3291840"/>
            <a:ext cx="2926080" cy="123574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D38F1B15-0D8E-BA4C-A67D-0D9C4D751F78}"/>
              </a:ext>
            </a:extLst>
          </p:cNvPr>
          <p:cNvSpPr/>
          <p:nvPr/>
        </p:nvSpPr>
        <p:spPr>
          <a:xfrm>
            <a:off x="2652065" y="3291840"/>
            <a:ext cx="73152" cy="1235746"/>
          </a:xfrm>
          <a:prstGeom prst="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CD6654E-FF4B-E081-BE02-DA5685ADE180}"/>
              </a:ext>
            </a:extLst>
          </p:cNvPr>
          <p:cNvSpPr txBox="1"/>
          <p:nvPr/>
        </p:nvSpPr>
        <p:spPr>
          <a:xfrm>
            <a:off x="2853233" y="3429000"/>
            <a:ext cx="2560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endParaRPr sz="1200" dirty="0"/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sz="1200" dirty="0"/>
              <a:t>Bills are a recurring engagement driver</a:t>
            </a:r>
          </a:p>
        </p:txBody>
      </p:sp>
      <p:sp>
        <p:nvSpPr>
          <p:cNvPr id="223" name="Rounded Rectangle 34">
            <a:extLst>
              <a:ext uri="{FF2B5EF4-FFF2-40B4-BE49-F238E27FC236}">
                <a16:creationId xmlns:a16="http://schemas.microsoft.com/office/drawing/2014/main" id="{855A99A3-5176-1F2E-5D48-39C657BC41A0}"/>
              </a:ext>
            </a:extLst>
          </p:cNvPr>
          <p:cNvSpPr/>
          <p:nvPr/>
        </p:nvSpPr>
        <p:spPr>
          <a:xfrm>
            <a:off x="5578145" y="3291840"/>
            <a:ext cx="3657600" cy="123574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814BDEB9-485A-C2D5-35D8-4F63C34F90B5}"/>
              </a:ext>
            </a:extLst>
          </p:cNvPr>
          <p:cNvSpPr/>
          <p:nvPr/>
        </p:nvSpPr>
        <p:spPr>
          <a:xfrm>
            <a:off x="5578145" y="3291840"/>
            <a:ext cx="73152" cy="1235746"/>
          </a:xfrm>
          <a:prstGeom prst="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4E40C214-DD41-98FC-A0A1-F04DECDD79C3}"/>
              </a:ext>
            </a:extLst>
          </p:cNvPr>
          <p:cNvSpPr txBox="1"/>
          <p:nvPr/>
        </p:nvSpPr>
        <p:spPr>
          <a:xfrm>
            <a:off x="5779313" y="3429000"/>
            <a:ext cx="3291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endParaRPr sz="1200" dirty="0"/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sz="1200" dirty="0"/>
              <a:t>Marketing promotes bill pay for retention</a:t>
            </a:r>
          </a:p>
        </p:txBody>
      </p:sp>
      <p:sp>
        <p:nvSpPr>
          <p:cNvPr id="229" name="Rounded Rectangle 37">
            <a:extLst>
              <a:ext uri="{FF2B5EF4-FFF2-40B4-BE49-F238E27FC236}">
                <a16:creationId xmlns:a16="http://schemas.microsoft.com/office/drawing/2014/main" id="{8A39E045-87C3-D16E-D9DE-ECDC2FC359E8}"/>
              </a:ext>
            </a:extLst>
          </p:cNvPr>
          <p:cNvSpPr/>
          <p:nvPr/>
        </p:nvSpPr>
        <p:spPr>
          <a:xfrm>
            <a:off x="9235745" y="3291840"/>
            <a:ext cx="2148840" cy="123574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FD4D07D5-988E-4EA1-5E4D-6B91E9663FD3}"/>
              </a:ext>
            </a:extLst>
          </p:cNvPr>
          <p:cNvSpPr/>
          <p:nvPr/>
        </p:nvSpPr>
        <p:spPr>
          <a:xfrm>
            <a:off x="9235745" y="3291840"/>
            <a:ext cx="73152" cy="1235746"/>
          </a:xfrm>
          <a:prstGeom prst="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4790D18A-F003-62BE-E753-B940B98ADBA6}"/>
              </a:ext>
            </a:extLst>
          </p:cNvPr>
          <p:cNvSpPr txBox="1"/>
          <p:nvPr/>
        </p:nvSpPr>
        <p:spPr>
          <a:xfrm>
            <a:off x="9436913" y="3429000"/>
            <a:ext cx="1783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endParaRPr sz="1200" dirty="0"/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sz="1200" dirty="0"/>
              <a:t>Higher monthly active use</a:t>
            </a:r>
          </a:p>
        </p:txBody>
      </p:sp>
      <p:sp>
        <p:nvSpPr>
          <p:cNvPr id="235" name="Rounded Rectangle 40">
            <a:extLst>
              <a:ext uri="{FF2B5EF4-FFF2-40B4-BE49-F238E27FC236}">
                <a16:creationId xmlns:a16="http://schemas.microsoft.com/office/drawing/2014/main" id="{36CABCF5-DE90-15D4-B099-6B6989F4AF3C}"/>
              </a:ext>
            </a:extLst>
          </p:cNvPr>
          <p:cNvSpPr/>
          <p:nvPr/>
        </p:nvSpPr>
        <p:spPr>
          <a:xfrm>
            <a:off x="594665" y="4114800"/>
            <a:ext cx="2057400" cy="123574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8B9F4932-E3C7-A668-1E65-C81DC046FA71}"/>
              </a:ext>
            </a:extLst>
          </p:cNvPr>
          <p:cNvSpPr/>
          <p:nvPr/>
        </p:nvSpPr>
        <p:spPr>
          <a:xfrm>
            <a:off x="594665" y="4114800"/>
            <a:ext cx="73152" cy="1235746"/>
          </a:xfrm>
          <a:prstGeom prst="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E3CD7369-38AF-189C-E928-93D849330CF9}"/>
              </a:ext>
            </a:extLst>
          </p:cNvPr>
          <p:cNvSpPr txBox="1"/>
          <p:nvPr/>
        </p:nvSpPr>
        <p:spPr>
          <a:xfrm>
            <a:off x="795833" y="4251960"/>
            <a:ext cx="1691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endParaRPr sz="1200" dirty="0"/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sz="1200" dirty="0"/>
              <a:t>High USD-card spend + low wallet funding</a:t>
            </a:r>
          </a:p>
        </p:txBody>
      </p:sp>
      <p:sp>
        <p:nvSpPr>
          <p:cNvPr id="241" name="Rounded Rectangle 43">
            <a:extLst>
              <a:ext uri="{FF2B5EF4-FFF2-40B4-BE49-F238E27FC236}">
                <a16:creationId xmlns:a16="http://schemas.microsoft.com/office/drawing/2014/main" id="{96B9CB14-07B3-C44D-1574-29F65FFB835A}"/>
              </a:ext>
            </a:extLst>
          </p:cNvPr>
          <p:cNvSpPr/>
          <p:nvPr/>
        </p:nvSpPr>
        <p:spPr>
          <a:xfrm>
            <a:off x="2652065" y="4114800"/>
            <a:ext cx="2926080" cy="123574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F8212C29-074C-6200-7EC9-F9CCA9F17C3A}"/>
              </a:ext>
            </a:extLst>
          </p:cNvPr>
          <p:cNvSpPr/>
          <p:nvPr/>
        </p:nvSpPr>
        <p:spPr>
          <a:xfrm>
            <a:off x="2652065" y="4114800"/>
            <a:ext cx="73152" cy="1235746"/>
          </a:xfrm>
          <a:prstGeom prst="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6C87CA69-4ED7-71BE-4EF1-9840FD33683B}"/>
              </a:ext>
            </a:extLst>
          </p:cNvPr>
          <p:cNvSpPr txBox="1"/>
          <p:nvPr/>
        </p:nvSpPr>
        <p:spPr>
          <a:xfrm>
            <a:off x="2853233" y="4251960"/>
            <a:ext cx="2560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endParaRPr sz="1200" dirty="0"/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sz="1200" dirty="0"/>
              <a:t>Funding/conversion may be a friction point</a:t>
            </a:r>
          </a:p>
        </p:txBody>
      </p:sp>
      <p:sp>
        <p:nvSpPr>
          <p:cNvPr id="247" name="Rounded Rectangle 46">
            <a:extLst>
              <a:ext uri="{FF2B5EF4-FFF2-40B4-BE49-F238E27FC236}">
                <a16:creationId xmlns:a16="http://schemas.microsoft.com/office/drawing/2014/main" id="{AEB987A3-4818-6171-74EF-E1E211B05936}"/>
              </a:ext>
            </a:extLst>
          </p:cNvPr>
          <p:cNvSpPr/>
          <p:nvPr/>
        </p:nvSpPr>
        <p:spPr>
          <a:xfrm>
            <a:off x="5578145" y="4114800"/>
            <a:ext cx="3657600" cy="123574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8632DD73-5B51-82C8-E21E-D4589B71A0DA}"/>
              </a:ext>
            </a:extLst>
          </p:cNvPr>
          <p:cNvSpPr/>
          <p:nvPr/>
        </p:nvSpPr>
        <p:spPr>
          <a:xfrm>
            <a:off x="5578145" y="4114800"/>
            <a:ext cx="73152" cy="1235746"/>
          </a:xfrm>
          <a:prstGeom prst="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6C161F6C-5368-9355-D8D1-7263493651C7}"/>
              </a:ext>
            </a:extLst>
          </p:cNvPr>
          <p:cNvSpPr txBox="1"/>
          <p:nvPr/>
        </p:nvSpPr>
        <p:spPr>
          <a:xfrm>
            <a:off x="5779313" y="4251960"/>
            <a:ext cx="3291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endParaRPr sz="1200" dirty="0"/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sz="1200" dirty="0"/>
              <a:t>Product improves funding and FX flow</a:t>
            </a:r>
          </a:p>
        </p:txBody>
      </p:sp>
      <p:sp>
        <p:nvSpPr>
          <p:cNvPr id="253" name="Rounded Rectangle 49">
            <a:extLst>
              <a:ext uri="{FF2B5EF4-FFF2-40B4-BE49-F238E27FC236}">
                <a16:creationId xmlns:a16="http://schemas.microsoft.com/office/drawing/2014/main" id="{D5322A93-30AA-7CCB-3E7A-332F634E876E}"/>
              </a:ext>
            </a:extLst>
          </p:cNvPr>
          <p:cNvSpPr/>
          <p:nvPr/>
        </p:nvSpPr>
        <p:spPr>
          <a:xfrm>
            <a:off x="9235745" y="4114800"/>
            <a:ext cx="2148840" cy="123574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486071B6-7F91-461F-D3CE-D0A5826EE77C}"/>
              </a:ext>
            </a:extLst>
          </p:cNvPr>
          <p:cNvSpPr/>
          <p:nvPr/>
        </p:nvSpPr>
        <p:spPr>
          <a:xfrm>
            <a:off x="9235745" y="4114800"/>
            <a:ext cx="73152" cy="1235746"/>
          </a:xfrm>
          <a:prstGeom prst="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A109D50D-49AD-9A39-3579-CF274B96AFC8}"/>
              </a:ext>
            </a:extLst>
          </p:cNvPr>
          <p:cNvSpPr txBox="1"/>
          <p:nvPr/>
        </p:nvSpPr>
        <p:spPr>
          <a:xfrm>
            <a:off x="9436913" y="4251960"/>
            <a:ext cx="1783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endParaRPr sz="1200" dirty="0"/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sz="1200" dirty="0"/>
              <a:t>More successful card transactions</a:t>
            </a:r>
          </a:p>
        </p:txBody>
      </p:sp>
      <p:sp>
        <p:nvSpPr>
          <p:cNvPr id="259" name="Rounded Rectangle 52">
            <a:extLst>
              <a:ext uri="{FF2B5EF4-FFF2-40B4-BE49-F238E27FC236}">
                <a16:creationId xmlns:a16="http://schemas.microsoft.com/office/drawing/2014/main" id="{CDA11863-CD6C-3AFB-2239-3B5BDBE9A634}"/>
              </a:ext>
            </a:extLst>
          </p:cNvPr>
          <p:cNvSpPr/>
          <p:nvPr/>
        </p:nvSpPr>
        <p:spPr>
          <a:xfrm>
            <a:off x="594665" y="4937760"/>
            <a:ext cx="2057400" cy="123574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70F32C21-A23D-1A77-E1F6-C4C64DDB57FC}"/>
              </a:ext>
            </a:extLst>
          </p:cNvPr>
          <p:cNvSpPr/>
          <p:nvPr/>
        </p:nvSpPr>
        <p:spPr>
          <a:xfrm>
            <a:off x="594665" y="4937760"/>
            <a:ext cx="73152" cy="1235746"/>
          </a:xfrm>
          <a:prstGeom prst="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02F0FCF8-9AC7-4EC3-7298-1444DE808364}"/>
              </a:ext>
            </a:extLst>
          </p:cNvPr>
          <p:cNvSpPr txBox="1"/>
          <p:nvPr/>
        </p:nvSpPr>
        <p:spPr>
          <a:xfrm>
            <a:off x="795833" y="5074920"/>
            <a:ext cx="1691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endParaRPr sz="1200" dirty="0"/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sz="1200" dirty="0"/>
              <a:t>Fee-page views + abandonment</a:t>
            </a:r>
          </a:p>
        </p:txBody>
      </p:sp>
      <p:sp>
        <p:nvSpPr>
          <p:cNvPr id="265" name="Rounded Rectangle 55">
            <a:extLst>
              <a:ext uri="{FF2B5EF4-FFF2-40B4-BE49-F238E27FC236}">
                <a16:creationId xmlns:a16="http://schemas.microsoft.com/office/drawing/2014/main" id="{8101D3D4-3746-666A-1A26-264E5B93DCE1}"/>
              </a:ext>
            </a:extLst>
          </p:cNvPr>
          <p:cNvSpPr/>
          <p:nvPr/>
        </p:nvSpPr>
        <p:spPr>
          <a:xfrm>
            <a:off x="2652065" y="4937760"/>
            <a:ext cx="2926080" cy="123574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D342B1D2-286C-E728-5AF1-A37135E9A788}"/>
              </a:ext>
            </a:extLst>
          </p:cNvPr>
          <p:cNvSpPr/>
          <p:nvPr/>
        </p:nvSpPr>
        <p:spPr>
          <a:xfrm>
            <a:off x="2652065" y="4937760"/>
            <a:ext cx="73152" cy="1235746"/>
          </a:xfrm>
          <a:prstGeom prst="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BFBE699B-86D0-7B3E-9E25-607DB20C332D}"/>
              </a:ext>
            </a:extLst>
          </p:cNvPr>
          <p:cNvSpPr txBox="1"/>
          <p:nvPr/>
        </p:nvSpPr>
        <p:spPr>
          <a:xfrm>
            <a:off x="2853233" y="5074920"/>
            <a:ext cx="2560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endParaRPr sz="1200" dirty="0"/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sz="1200" dirty="0"/>
              <a:t>Users may be uncertain about total cost</a:t>
            </a:r>
          </a:p>
        </p:txBody>
      </p:sp>
      <p:sp>
        <p:nvSpPr>
          <p:cNvPr id="271" name="Rounded Rectangle 58">
            <a:extLst>
              <a:ext uri="{FF2B5EF4-FFF2-40B4-BE49-F238E27FC236}">
                <a16:creationId xmlns:a16="http://schemas.microsoft.com/office/drawing/2014/main" id="{5D405A03-708E-761A-C76C-49FBC4D153A6}"/>
              </a:ext>
            </a:extLst>
          </p:cNvPr>
          <p:cNvSpPr/>
          <p:nvPr/>
        </p:nvSpPr>
        <p:spPr>
          <a:xfrm>
            <a:off x="5578145" y="4937760"/>
            <a:ext cx="3657600" cy="123574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843BF308-05A6-3575-8EEC-F47858D32BFE}"/>
              </a:ext>
            </a:extLst>
          </p:cNvPr>
          <p:cNvSpPr/>
          <p:nvPr/>
        </p:nvSpPr>
        <p:spPr>
          <a:xfrm>
            <a:off x="5578145" y="4937760"/>
            <a:ext cx="73152" cy="1235746"/>
          </a:xfrm>
          <a:prstGeom prst="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2D558D4B-3434-A806-A5DF-A53414836C63}"/>
              </a:ext>
            </a:extLst>
          </p:cNvPr>
          <p:cNvSpPr txBox="1"/>
          <p:nvPr/>
        </p:nvSpPr>
        <p:spPr>
          <a:xfrm>
            <a:off x="5779313" y="5074920"/>
            <a:ext cx="3291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endParaRPr sz="1200" dirty="0"/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sz="1200" dirty="0"/>
              <a:t>Show total cost earlier and test disclosure</a:t>
            </a:r>
          </a:p>
        </p:txBody>
      </p:sp>
      <p:sp>
        <p:nvSpPr>
          <p:cNvPr id="277" name="Rounded Rectangle 61">
            <a:extLst>
              <a:ext uri="{FF2B5EF4-FFF2-40B4-BE49-F238E27FC236}">
                <a16:creationId xmlns:a16="http://schemas.microsoft.com/office/drawing/2014/main" id="{680E39DA-F11A-FA80-76D5-5E5DE3870A2E}"/>
              </a:ext>
            </a:extLst>
          </p:cNvPr>
          <p:cNvSpPr/>
          <p:nvPr/>
        </p:nvSpPr>
        <p:spPr>
          <a:xfrm>
            <a:off x="9235745" y="4937760"/>
            <a:ext cx="2148840" cy="123574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CAF2DBB9-0C98-0D5F-46C8-076246DFBCC7}"/>
              </a:ext>
            </a:extLst>
          </p:cNvPr>
          <p:cNvSpPr/>
          <p:nvPr/>
        </p:nvSpPr>
        <p:spPr>
          <a:xfrm>
            <a:off x="9235745" y="4937760"/>
            <a:ext cx="73152" cy="1235746"/>
          </a:xfrm>
          <a:prstGeom prst="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DA224FD0-A613-DD24-46E3-9A56D27F7C09}"/>
              </a:ext>
            </a:extLst>
          </p:cNvPr>
          <p:cNvSpPr txBox="1"/>
          <p:nvPr/>
        </p:nvSpPr>
        <p:spPr>
          <a:xfrm>
            <a:off x="9436913" y="5074920"/>
            <a:ext cx="1783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endParaRPr sz="1200" dirty="0"/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sz="1200" dirty="0"/>
              <a:t>Higher transaction conversion</a:t>
            </a:r>
          </a:p>
        </p:txBody>
      </p:sp>
      <p:sp>
        <p:nvSpPr>
          <p:cNvPr id="283" name="Rounded Rectangle 64">
            <a:extLst>
              <a:ext uri="{FF2B5EF4-FFF2-40B4-BE49-F238E27FC236}">
                <a16:creationId xmlns:a16="http://schemas.microsoft.com/office/drawing/2014/main" id="{D61E7748-2029-4BF5-A881-D653D421EBFC}"/>
              </a:ext>
            </a:extLst>
          </p:cNvPr>
          <p:cNvSpPr/>
          <p:nvPr/>
        </p:nvSpPr>
        <p:spPr>
          <a:xfrm>
            <a:off x="594665" y="5760720"/>
            <a:ext cx="2057400" cy="123574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3B74787C-285F-6ED5-7B98-D86BE7381E4C}"/>
              </a:ext>
            </a:extLst>
          </p:cNvPr>
          <p:cNvSpPr/>
          <p:nvPr/>
        </p:nvSpPr>
        <p:spPr>
          <a:xfrm>
            <a:off x="594665" y="5760720"/>
            <a:ext cx="73152" cy="1235746"/>
          </a:xfrm>
          <a:prstGeom prst="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C4A60B22-434F-9862-1826-69D32A32249B}"/>
              </a:ext>
            </a:extLst>
          </p:cNvPr>
          <p:cNvSpPr txBox="1"/>
          <p:nvPr/>
        </p:nvSpPr>
        <p:spPr>
          <a:xfrm>
            <a:off x="795833" y="5897880"/>
            <a:ext cx="1691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endParaRPr sz="1200" dirty="0"/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sz="1200" dirty="0"/>
              <a:t>Gift-card demand concentrated in few brands</a:t>
            </a:r>
          </a:p>
        </p:txBody>
      </p:sp>
      <p:sp>
        <p:nvSpPr>
          <p:cNvPr id="289" name="Rounded Rectangle 67">
            <a:extLst>
              <a:ext uri="{FF2B5EF4-FFF2-40B4-BE49-F238E27FC236}">
                <a16:creationId xmlns:a16="http://schemas.microsoft.com/office/drawing/2014/main" id="{76ED72AE-B286-E880-7B23-17C13F48BFC6}"/>
              </a:ext>
            </a:extLst>
          </p:cNvPr>
          <p:cNvSpPr/>
          <p:nvPr/>
        </p:nvSpPr>
        <p:spPr>
          <a:xfrm>
            <a:off x="2652065" y="5760720"/>
            <a:ext cx="2926080" cy="123574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28D02693-A607-28E7-96BB-3E42505ACE9D}"/>
              </a:ext>
            </a:extLst>
          </p:cNvPr>
          <p:cNvSpPr/>
          <p:nvPr/>
        </p:nvSpPr>
        <p:spPr>
          <a:xfrm>
            <a:off x="2652065" y="5760720"/>
            <a:ext cx="73152" cy="1235746"/>
          </a:xfrm>
          <a:prstGeom prst="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700BB618-53F3-EDC6-9802-800172799B08}"/>
              </a:ext>
            </a:extLst>
          </p:cNvPr>
          <p:cNvSpPr txBox="1"/>
          <p:nvPr/>
        </p:nvSpPr>
        <p:spPr>
          <a:xfrm>
            <a:off x="2853233" y="5897880"/>
            <a:ext cx="2560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endParaRPr sz="1200" dirty="0"/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sz="1200" dirty="0"/>
              <a:t>A small set drives marketplace demand</a:t>
            </a:r>
          </a:p>
        </p:txBody>
      </p:sp>
      <p:sp>
        <p:nvSpPr>
          <p:cNvPr id="295" name="Rounded Rectangle 70">
            <a:extLst>
              <a:ext uri="{FF2B5EF4-FFF2-40B4-BE49-F238E27FC236}">
                <a16:creationId xmlns:a16="http://schemas.microsoft.com/office/drawing/2014/main" id="{2F96F600-FE58-6D59-0FBF-2906B2161627}"/>
              </a:ext>
            </a:extLst>
          </p:cNvPr>
          <p:cNvSpPr/>
          <p:nvPr/>
        </p:nvSpPr>
        <p:spPr>
          <a:xfrm>
            <a:off x="5578145" y="5760720"/>
            <a:ext cx="3657600" cy="123574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74CF46D7-4F14-5AA5-F18E-3CC64C23E05B}"/>
              </a:ext>
            </a:extLst>
          </p:cNvPr>
          <p:cNvSpPr/>
          <p:nvPr/>
        </p:nvSpPr>
        <p:spPr>
          <a:xfrm>
            <a:off x="5578145" y="5760720"/>
            <a:ext cx="73152" cy="1235746"/>
          </a:xfrm>
          <a:prstGeom prst="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CFD7F8AB-9D8D-8B33-67B8-862C4173FCD1}"/>
              </a:ext>
            </a:extLst>
          </p:cNvPr>
          <p:cNvSpPr txBox="1"/>
          <p:nvPr/>
        </p:nvSpPr>
        <p:spPr>
          <a:xfrm>
            <a:off x="5779313" y="5897880"/>
            <a:ext cx="3291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endParaRPr sz="1200" dirty="0"/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sz="1200" dirty="0"/>
              <a:t>Sales prioritizes partnerships/promotions</a:t>
            </a:r>
          </a:p>
        </p:txBody>
      </p:sp>
      <p:sp>
        <p:nvSpPr>
          <p:cNvPr id="301" name="Rounded Rectangle 73">
            <a:extLst>
              <a:ext uri="{FF2B5EF4-FFF2-40B4-BE49-F238E27FC236}">
                <a16:creationId xmlns:a16="http://schemas.microsoft.com/office/drawing/2014/main" id="{E842F917-88D1-7F59-2F2E-2820C57872A5}"/>
              </a:ext>
            </a:extLst>
          </p:cNvPr>
          <p:cNvSpPr/>
          <p:nvPr/>
        </p:nvSpPr>
        <p:spPr>
          <a:xfrm>
            <a:off x="9235745" y="5760720"/>
            <a:ext cx="2148840" cy="1235746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1A1F7CC2-B4F6-2AFA-6C99-B2894D32365E}"/>
              </a:ext>
            </a:extLst>
          </p:cNvPr>
          <p:cNvSpPr/>
          <p:nvPr/>
        </p:nvSpPr>
        <p:spPr>
          <a:xfrm>
            <a:off x="9235745" y="5760720"/>
            <a:ext cx="73152" cy="1235746"/>
          </a:xfrm>
          <a:prstGeom prst="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8505C30-08B2-B7F9-18C8-9AF75DCA93BC}"/>
              </a:ext>
            </a:extLst>
          </p:cNvPr>
          <p:cNvSpPr txBox="1"/>
          <p:nvPr/>
        </p:nvSpPr>
        <p:spPr>
          <a:xfrm>
            <a:off x="9436913" y="5897880"/>
            <a:ext cx="1783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53F"/>
                </a:solidFill>
              </a:defRPr>
            </a:pPr>
            <a:endParaRPr sz="1200" dirty="0"/>
          </a:p>
          <a:p>
            <a:pPr>
              <a:defRPr sz="1150">
                <a:solidFill>
                  <a:srgbClr val="26303C"/>
                </a:solidFill>
              </a:defRPr>
            </a:pPr>
            <a:r>
              <a:rPr sz="1200" dirty="0"/>
              <a:t>Better sales &amp; inventory efficiency</a:t>
            </a:r>
          </a:p>
        </p:txBody>
      </p:sp>
    </p:spTree>
    <p:extLst>
      <p:ext uri="{BB962C8B-B14F-4D97-AF65-F5344CB8AC3E}">
        <p14:creationId xmlns:p14="http://schemas.microsoft.com/office/powerpoint/2010/main" val="4282465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91BB4-FE79-0357-B3E7-86FCA88DD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8840A-3699-FA41-20DF-E915FC07F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ABD6A3-2B4C-33B4-069C-50472C6AFED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73EECE-9070-B682-E8EF-03C51903DEB5}"/>
              </a:ext>
            </a:extLst>
          </p:cNvPr>
          <p:cNvSpPr txBox="1"/>
          <p:nvPr/>
        </p:nvSpPr>
        <p:spPr>
          <a:xfrm>
            <a:off x="594360" y="347472"/>
            <a:ext cx="722293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53F"/>
                </a:solidFill>
              </a:defRPr>
            </a:pPr>
            <a:r>
              <a:rPr lang="en-GB" dirty="0">
                <a:latin typeface="Bell MT" panose="02020503060305020303" pitchFamily="18" charset="0"/>
              </a:rPr>
              <a:t>7</a:t>
            </a:r>
            <a:r>
              <a:rPr dirty="0">
                <a:latin typeface="Bell MT" panose="02020503060305020303" pitchFamily="18" charset="0"/>
              </a:rPr>
              <a:t>. Key Findings &amp; Strategic Recommendations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09A534-534D-FD59-C3E7-A3253A05822A}"/>
              </a:ext>
            </a:extLst>
          </p:cNvPr>
          <p:cNvSpPr txBox="1"/>
          <p:nvPr/>
        </p:nvSpPr>
        <p:spPr>
          <a:xfrm>
            <a:off x="621792" y="941832"/>
            <a:ext cx="4951997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A"/>
                </a:solidFill>
              </a:defRPr>
            </a:pPr>
            <a:r>
              <a:rPr b="1" dirty="0">
                <a:solidFill>
                  <a:srgbClr val="002060"/>
                </a:solidFill>
              </a:rPr>
              <a:t>The strongest opportunity is integration—not feature-for-feature competition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682795-97D4-70F9-5726-C2D131735E7B}"/>
              </a:ext>
            </a:extLst>
          </p:cNvPr>
          <p:cNvSpPr txBox="1"/>
          <p:nvPr/>
        </p:nvSpPr>
        <p:spPr>
          <a:xfrm>
            <a:off x="685800" y="1325880"/>
            <a:ext cx="10789920" cy="5080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  <a:defRPr sz="1500">
                <a:solidFill>
                  <a:srgbClr val="26303C"/>
                </a:solidFill>
              </a:defRPr>
            </a:pPr>
            <a:r>
              <a:rPr b="1" dirty="0"/>
              <a:t>• </a:t>
            </a:r>
            <a:r>
              <a:rPr b="1" dirty="0" err="1"/>
              <a:t>OPay</a:t>
            </a:r>
            <a:r>
              <a:rPr b="1" dirty="0"/>
              <a:t> proves the value of frequent Nigerian everyday financial use.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500">
                <a:solidFill>
                  <a:srgbClr val="26303C"/>
                </a:solidFill>
              </a:defRPr>
            </a:pPr>
            <a:r>
              <a:rPr b="1" dirty="0"/>
              <a:t>• </a:t>
            </a:r>
            <a:r>
              <a:rPr b="1" dirty="0" err="1"/>
              <a:t>Raenest</a:t>
            </a:r>
            <a:r>
              <a:rPr b="1" dirty="0"/>
              <a:t> proves demand for accessible global-money accounts and USD card spending.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500">
                <a:solidFill>
                  <a:srgbClr val="26303C"/>
                </a:solidFill>
              </a:defRPr>
            </a:pPr>
            <a:r>
              <a:rPr b="1" dirty="0"/>
              <a:t>• Wise shows that transparent pricing and FX communication can become a trust proposition.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500">
                <a:solidFill>
                  <a:srgbClr val="26303C"/>
                </a:solidFill>
              </a:defRPr>
            </a:pPr>
            <a:r>
              <a:rPr b="1" dirty="0"/>
              <a:t>• SIDONPAY’s strongest potential differentiation is a Nigeria-first local-to-global experience in one app.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500">
                <a:solidFill>
                  <a:srgbClr val="26303C"/>
                </a:solidFill>
              </a:defRPr>
            </a:pPr>
            <a:r>
              <a:rPr b="1" dirty="0"/>
              <a:t>• Treat the fee card as a live product experience: show the applicable total cost at the point of action.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500">
                <a:solidFill>
                  <a:srgbClr val="26303C"/>
                </a:solidFill>
              </a:defRPr>
            </a:pPr>
            <a:r>
              <a:rPr b="1" dirty="0"/>
              <a:t>• Make KYC progression measurable: required verification, limits, unlocked features and time-to-verify should be clear.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500">
                <a:solidFill>
                  <a:srgbClr val="26303C"/>
                </a:solidFill>
              </a:defRPr>
            </a:pPr>
            <a:r>
              <a:rPr b="1" dirty="0"/>
              <a:t>• Track the full journey: NGN wallet → USD account → virtual card → bill pay → gift cards, then use those insights to improve cross-sell and retention.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500">
                <a:solidFill>
                  <a:srgbClr val="26303C"/>
                </a:solidFill>
              </a:defRPr>
            </a:pPr>
            <a:r>
              <a:rPr b="1" dirty="0"/>
              <a:t>• Maintain a quarterly competitor-monitoring dashboard because pricing, KYC limits, card rules and promotions can change.</a:t>
            </a:r>
          </a:p>
        </p:txBody>
      </p:sp>
    </p:spTree>
    <p:extLst>
      <p:ext uri="{BB962C8B-B14F-4D97-AF65-F5344CB8AC3E}">
        <p14:creationId xmlns:p14="http://schemas.microsoft.com/office/powerpoint/2010/main" val="3924447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33AB8-1188-9CD9-37E0-48E7BCC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130628"/>
            <a:ext cx="11734800" cy="6596743"/>
          </a:xfr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indent="0" algn="ctr">
              <a:buNone/>
            </a:pPr>
            <a:r>
              <a:rPr lang="en-GB" sz="9600" dirty="0">
                <a:solidFill>
                  <a:schemeClr val="accent1">
                    <a:lumMod val="20000"/>
                    <a:lumOff val="80000"/>
                  </a:schemeClr>
                </a:solidFill>
                <a:latin typeface="Bell MT" panose="020205030603050203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74470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</TotalTime>
  <Words>1059</Words>
  <Application>Microsoft Office PowerPoint</Application>
  <PresentationFormat>Widescreen</PresentationFormat>
  <Paragraphs>223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Bell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Jumoke Olaleye</dc:creator>
  <cp:lastModifiedBy>Jumoke Olaleye</cp:lastModifiedBy>
  <cp:revision>7</cp:revision>
  <dcterms:created xsi:type="dcterms:W3CDTF">2026-09-02T14:22:40Z</dcterms:created>
  <dcterms:modified xsi:type="dcterms:W3CDTF">2026-10-23T15:29:10Z</dcterms:modified>
</cp:coreProperties>
</file>